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58" r:id="rId4"/>
    <p:sldId id="273" r:id="rId5"/>
    <p:sldId id="259" r:id="rId6"/>
    <p:sldId id="260" r:id="rId7"/>
    <p:sldId id="261" r:id="rId8"/>
    <p:sldId id="262" r:id="rId9"/>
    <p:sldId id="263" r:id="rId10"/>
    <p:sldId id="264" r:id="rId11"/>
    <p:sldId id="274" r:id="rId12"/>
    <p:sldId id="265" r:id="rId13"/>
    <p:sldId id="266" r:id="rId14"/>
    <p:sldId id="267" r:id="rId15"/>
    <p:sldId id="268"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88AA6"/>
    <a:srgbClr val="FBE3EC"/>
    <a:srgbClr val="F7C6D8"/>
    <a:srgbClr val="D9B2C8"/>
    <a:srgbClr val="FFB0B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09" autoAdjust="0"/>
    <p:restoredTop sz="94660"/>
  </p:normalViewPr>
  <p:slideViewPr>
    <p:cSldViewPr snapToGrid="0">
      <p:cViewPr varScale="1">
        <p:scale>
          <a:sx n="88" d="100"/>
          <a:sy n="88" d="100"/>
        </p:scale>
        <p:origin x="110" y="2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7454D8-7199-4F31-B9D3-10C4E8546F9B}" type="datetimeFigureOut">
              <a:rPr lang="en-US" smtClean="0"/>
              <a:t>01-Jul-26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5A155D-DA1B-4A4F-AA28-9A9EAD29A6F5}" type="slidenum">
              <a:rPr lang="en-US" smtClean="0"/>
              <a:t>‹#›</a:t>
            </a:fld>
            <a:endParaRPr lang="en-US"/>
          </a:p>
        </p:txBody>
      </p:sp>
    </p:spTree>
    <p:extLst>
      <p:ext uri="{BB962C8B-B14F-4D97-AF65-F5344CB8AC3E}">
        <p14:creationId xmlns:p14="http://schemas.microsoft.com/office/powerpoint/2010/main" val="25416988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dirty="0"/>
              <a:t>Average daily steps: 7,358 — 26% below the recommended 10,000 step goal</a:t>
            </a:r>
            <a:endParaRPr lang="en-US" dirty="0"/>
          </a:p>
        </p:txBody>
      </p:sp>
      <p:sp>
        <p:nvSpPr>
          <p:cNvPr id="4" name="Slide Number Placeholder 3"/>
          <p:cNvSpPr>
            <a:spLocks noGrp="1"/>
          </p:cNvSpPr>
          <p:nvPr>
            <p:ph type="sldNum" sz="quarter" idx="5"/>
          </p:nvPr>
        </p:nvSpPr>
        <p:spPr/>
        <p:txBody>
          <a:bodyPr/>
          <a:lstStyle/>
          <a:p>
            <a:fld id="{875A155D-DA1B-4A4F-AA28-9A9EAD29A6F5}" type="slidenum">
              <a:rPr lang="en-US" smtClean="0"/>
              <a:t>5</a:t>
            </a:fld>
            <a:endParaRPr lang="en-US"/>
          </a:p>
        </p:txBody>
      </p:sp>
    </p:spTree>
    <p:extLst>
      <p:ext uri="{BB962C8B-B14F-4D97-AF65-F5344CB8AC3E}">
        <p14:creationId xmlns:p14="http://schemas.microsoft.com/office/powerpoint/2010/main" val="31959875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Device abandonment and inconsistent wear is a significant challenge across fitness tracker users — suggesting barriers</a:t>
            </a:r>
          </a:p>
        </p:txBody>
      </p:sp>
      <p:sp>
        <p:nvSpPr>
          <p:cNvPr id="4" name="Slide Number Placeholder 3"/>
          <p:cNvSpPr>
            <a:spLocks noGrp="1"/>
          </p:cNvSpPr>
          <p:nvPr>
            <p:ph type="sldNum" sz="quarter" idx="5"/>
          </p:nvPr>
        </p:nvSpPr>
        <p:spPr/>
        <p:txBody>
          <a:bodyPr/>
          <a:lstStyle/>
          <a:p>
            <a:fld id="{875A155D-DA1B-4A4F-AA28-9A9EAD29A6F5}" type="slidenum">
              <a:rPr lang="en-US" smtClean="0"/>
              <a:t>6</a:t>
            </a:fld>
            <a:endParaRPr lang="en-US"/>
          </a:p>
        </p:txBody>
      </p:sp>
    </p:spTree>
    <p:extLst>
      <p:ext uri="{BB962C8B-B14F-4D97-AF65-F5344CB8AC3E}">
        <p14:creationId xmlns:p14="http://schemas.microsoft.com/office/powerpoint/2010/main" val="10195800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After-work exercise is the primary form of physical activity — suggesting users fit movement around their work schedule rather than before it</a:t>
            </a:r>
          </a:p>
        </p:txBody>
      </p:sp>
      <p:sp>
        <p:nvSpPr>
          <p:cNvPr id="4" name="Slide Number Placeholder 3"/>
          <p:cNvSpPr>
            <a:spLocks noGrp="1"/>
          </p:cNvSpPr>
          <p:nvPr>
            <p:ph type="sldNum" sz="quarter" idx="5"/>
          </p:nvPr>
        </p:nvSpPr>
        <p:spPr/>
        <p:txBody>
          <a:bodyPr/>
          <a:lstStyle/>
          <a:p>
            <a:fld id="{875A155D-DA1B-4A4F-AA28-9A9EAD29A6F5}" type="slidenum">
              <a:rPr lang="en-US" smtClean="0"/>
              <a:t>7</a:t>
            </a:fld>
            <a:endParaRPr lang="en-US"/>
          </a:p>
        </p:txBody>
      </p:sp>
    </p:spTree>
    <p:extLst>
      <p:ext uri="{BB962C8B-B14F-4D97-AF65-F5344CB8AC3E}">
        <p14:creationId xmlns:p14="http://schemas.microsoft.com/office/powerpoint/2010/main" val="36732625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Users naturally exercise more when free from work obligations, but Sunday represents a significant activity drop suggesting end of weekend fatigue or deliberate rest</a:t>
            </a:r>
          </a:p>
        </p:txBody>
      </p:sp>
      <p:sp>
        <p:nvSpPr>
          <p:cNvPr id="4" name="Slide Number Placeholder 3"/>
          <p:cNvSpPr>
            <a:spLocks noGrp="1"/>
          </p:cNvSpPr>
          <p:nvPr>
            <p:ph type="sldNum" sz="quarter" idx="5"/>
          </p:nvPr>
        </p:nvSpPr>
        <p:spPr/>
        <p:txBody>
          <a:bodyPr/>
          <a:lstStyle/>
          <a:p>
            <a:fld id="{875A155D-DA1B-4A4F-AA28-9A9EAD29A6F5}" type="slidenum">
              <a:rPr lang="en-US" smtClean="0"/>
              <a:t>8</a:t>
            </a:fld>
            <a:endParaRPr lang="en-US"/>
          </a:p>
        </p:txBody>
      </p:sp>
    </p:spTree>
    <p:extLst>
      <p:ext uri="{BB962C8B-B14F-4D97-AF65-F5344CB8AC3E}">
        <p14:creationId xmlns:p14="http://schemas.microsoft.com/office/powerpoint/2010/main" val="29632025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No simple correlation was found between overall activity levels and sleep duration — the sedentary time relationship is the more precise and actionable finding</a:t>
            </a:r>
          </a:p>
        </p:txBody>
      </p:sp>
      <p:sp>
        <p:nvSpPr>
          <p:cNvPr id="4" name="Slide Number Placeholder 3"/>
          <p:cNvSpPr>
            <a:spLocks noGrp="1"/>
          </p:cNvSpPr>
          <p:nvPr>
            <p:ph type="sldNum" sz="quarter" idx="5"/>
          </p:nvPr>
        </p:nvSpPr>
        <p:spPr/>
        <p:txBody>
          <a:bodyPr/>
          <a:lstStyle/>
          <a:p>
            <a:fld id="{875A155D-DA1B-4A4F-AA28-9A9EAD29A6F5}" type="slidenum">
              <a:rPr lang="en-US" smtClean="0"/>
              <a:t>9</a:t>
            </a:fld>
            <a:endParaRPr lang="en-US"/>
          </a:p>
        </p:txBody>
      </p:sp>
    </p:spTree>
    <p:extLst>
      <p:ext uri="{BB962C8B-B14F-4D97-AF65-F5344CB8AC3E}">
        <p14:creationId xmlns:p14="http://schemas.microsoft.com/office/powerpoint/2010/main" val="11508363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Time awake in bed may include non-sleep activities like watching TV — Fitbit cannot distinguish between the two</a:t>
            </a:r>
          </a:p>
        </p:txBody>
      </p:sp>
      <p:sp>
        <p:nvSpPr>
          <p:cNvPr id="4" name="Slide Number Placeholder 3"/>
          <p:cNvSpPr>
            <a:spLocks noGrp="1"/>
          </p:cNvSpPr>
          <p:nvPr>
            <p:ph type="sldNum" sz="quarter" idx="5"/>
          </p:nvPr>
        </p:nvSpPr>
        <p:spPr/>
        <p:txBody>
          <a:bodyPr/>
          <a:lstStyle/>
          <a:p>
            <a:fld id="{875A155D-DA1B-4A4F-AA28-9A9EAD29A6F5}" type="slidenum">
              <a:rPr lang="en-US" smtClean="0"/>
              <a:t>10</a:t>
            </a:fld>
            <a:endParaRPr lang="en-US"/>
          </a:p>
        </p:txBody>
      </p:sp>
    </p:spTree>
    <p:extLst>
      <p:ext uri="{BB962C8B-B14F-4D97-AF65-F5344CB8AC3E}">
        <p14:creationId xmlns:p14="http://schemas.microsoft.com/office/powerpoint/2010/main" val="15954809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inconsistent wear means incomplete data and reduced product value</a:t>
            </a:r>
          </a:p>
          <a:p>
            <a:endParaRPr lang="en-US" dirty="0"/>
          </a:p>
        </p:txBody>
      </p:sp>
      <p:sp>
        <p:nvSpPr>
          <p:cNvPr id="4" name="Slide Number Placeholder 3"/>
          <p:cNvSpPr>
            <a:spLocks noGrp="1"/>
          </p:cNvSpPr>
          <p:nvPr>
            <p:ph type="sldNum" sz="quarter" idx="5"/>
          </p:nvPr>
        </p:nvSpPr>
        <p:spPr/>
        <p:txBody>
          <a:bodyPr/>
          <a:lstStyle/>
          <a:p>
            <a:fld id="{875A155D-DA1B-4A4F-AA28-9A9EAD29A6F5}" type="slidenum">
              <a:rPr lang="en-US" smtClean="0"/>
              <a:t>12</a:t>
            </a:fld>
            <a:endParaRPr lang="en-US"/>
          </a:p>
        </p:txBody>
      </p:sp>
    </p:spTree>
    <p:extLst>
      <p:ext uri="{BB962C8B-B14F-4D97-AF65-F5344CB8AC3E}">
        <p14:creationId xmlns:p14="http://schemas.microsoft.com/office/powerpoint/2010/main" val="36283595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solidFill>
                  <a:schemeClr val="tx1">
                    <a:lumMod val="65000"/>
                    <a:lumOff val="35000"/>
                  </a:schemeClr>
                </a:solidFill>
              </a:rPr>
              <a:t>Meet users where they naturally are — don't fight their patterns, work with them</a:t>
            </a:r>
            <a:endParaRPr lang="en-US" dirty="0"/>
          </a:p>
        </p:txBody>
      </p:sp>
      <p:sp>
        <p:nvSpPr>
          <p:cNvPr id="4" name="Slide Number Placeholder 3"/>
          <p:cNvSpPr>
            <a:spLocks noGrp="1"/>
          </p:cNvSpPr>
          <p:nvPr>
            <p:ph type="sldNum" sz="quarter" idx="5"/>
          </p:nvPr>
        </p:nvSpPr>
        <p:spPr/>
        <p:txBody>
          <a:bodyPr/>
          <a:lstStyle/>
          <a:p>
            <a:fld id="{875A155D-DA1B-4A4F-AA28-9A9EAD29A6F5}" type="slidenum">
              <a:rPr lang="en-US" smtClean="0"/>
              <a:t>14</a:t>
            </a:fld>
            <a:endParaRPr lang="en-US"/>
          </a:p>
        </p:txBody>
      </p:sp>
    </p:spTree>
    <p:extLst>
      <p:ext uri="{BB962C8B-B14F-4D97-AF65-F5344CB8AC3E}">
        <p14:creationId xmlns:p14="http://schemas.microsoft.com/office/powerpoint/2010/main" val="13687219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4E014-FAB8-DFB5-FB89-74118A07EA8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EB5B6B4-AFB5-AA10-63C9-3C5421E8DA1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C042593-DB9F-EBF7-BB2C-873432BC271D}"/>
              </a:ext>
            </a:extLst>
          </p:cNvPr>
          <p:cNvSpPr>
            <a:spLocks noGrp="1"/>
          </p:cNvSpPr>
          <p:nvPr>
            <p:ph type="dt" sz="half" idx="10"/>
          </p:nvPr>
        </p:nvSpPr>
        <p:spPr/>
        <p:txBody>
          <a:bodyPr/>
          <a:lstStyle/>
          <a:p>
            <a:fld id="{F6C20C27-41C8-4802-91C9-34D8AD9AE9DA}" type="datetimeFigureOut">
              <a:rPr lang="en-US" smtClean="0"/>
              <a:t>01-Jul-26</a:t>
            </a:fld>
            <a:endParaRPr lang="en-US"/>
          </a:p>
        </p:txBody>
      </p:sp>
      <p:sp>
        <p:nvSpPr>
          <p:cNvPr id="5" name="Footer Placeholder 4">
            <a:extLst>
              <a:ext uri="{FF2B5EF4-FFF2-40B4-BE49-F238E27FC236}">
                <a16:creationId xmlns:a16="http://schemas.microsoft.com/office/drawing/2014/main" id="{9B02673B-0905-1CF8-D777-1F9943AC27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BFF2AB-B0D3-2826-B3B1-7FF0D8570AC6}"/>
              </a:ext>
            </a:extLst>
          </p:cNvPr>
          <p:cNvSpPr>
            <a:spLocks noGrp="1"/>
          </p:cNvSpPr>
          <p:nvPr>
            <p:ph type="sldNum" sz="quarter" idx="12"/>
          </p:nvPr>
        </p:nvSpPr>
        <p:spPr/>
        <p:txBody>
          <a:bodyPr/>
          <a:lstStyle/>
          <a:p>
            <a:fld id="{87F03B4E-5093-435D-A0F9-319C40913D6E}" type="slidenum">
              <a:rPr lang="en-US" smtClean="0"/>
              <a:t>‹#›</a:t>
            </a:fld>
            <a:endParaRPr lang="en-US"/>
          </a:p>
        </p:txBody>
      </p:sp>
    </p:spTree>
    <p:extLst>
      <p:ext uri="{BB962C8B-B14F-4D97-AF65-F5344CB8AC3E}">
        <p14:creationId xmlns:p14="http://schemas.microsoft.com/office/powerpoint/2010/main" val="1907464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6828E-BDA0-8B74-163D-36CEB1A27D0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4263E97-5D39-F1C6-854E-FBE5FF33B4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AC51FB-0570-1005-8EBC-5F18BE94B282}"/>
              </a:ext>
            </a:extLst>
          </p:cNvPr>
          <p:cNvSpPr>
            <a:spLocks noGrp="1"/>
          </p:cNvSpPr>
          <p:nvPr>
            <p:ph type="dt" sz="half" idx="10"/>
          </p:nvPr>
        </p:nvSpPr>
        <p:spPr/>
        <p:txBody>
          <a:bodyPr/>
          <a:lstStyle/>
          <a:p>
            <a:fld id="{F6C20C27-41C8-4802-91C9-34D8AD9AE9DA}" type="datetimeFigureOut">
              <a:rPr lang="en-US" smtClean="0"/>
              <a:t>01-Jul-26</a:t>
            </a:fld>
            <a:endParaRPr lang="en-US"/>
          </a:p>
        </p:txBody>
      </p:sp>
      <p:sp>
        <p:nvSpPr>
          <p:cNvPr id="5" name="Footer Placeholder 4">
            <a:extLst>
              <a:ext uri="{FF2B5EF4-FFF2-40B4-BE49-F238E27FC236}">
                <a16:creationId xmlns:a16="http://schemas.microsoft.com/office/drawing/2014/main" id="{461AA0DF-3FDE-49C0-380A-C4138EC4DC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6D494E-2DAE-4EFF-E073-07CEF9334692}"/>
              </a:ext>
            </a:extLst>
          </p:cNvPr>
          <p:cNvSpPr>
            <a:spLocks noGrp="1"/>
          </p:cNvSpPr>
          <p:nvPr>
            <p:ph type="sldNum" sz="quarter" idx="12"/>
          </p:nvPr>
        </p:nvSpPr>
        <p:spPr/>
        <p:txBody>
          <a:bodyPr/>
          <a:lstStyle/>
          <a:p>
            <a:fld id="{87F03B4E-5093-435D-A0F9-319C40913D6E}" type="slidenum">
              <a:rPr lang="en-US" smtClean="0"/>
              <a:t>‹#›</a:t>
            </a:fld>
            <a:endParaRPr lang="en-US"/>
          </a:p>
        </p:txBody>
      </p:sp>
    </p:spTree>
    <p:extLst>
      <p:ext uri="{BB962C8B-B14F-4D97-AF65-F5344CB8AC3E}">
        <p14:creationId xmlns:p14="http://schemas.microsoft.com/office/powerpoint/2010/main" val="26570227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42B1A-1D93-C3A5-B7B5-B352CBA3282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C22863D-FD29-9AB7-C014-5649A531546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A3A18F4-F762-DAEE-4F6A-C268A476CE43}"/>
              </a:ext>
            </a:extLst>
          </p:cNvPr>
          <p:cNvSpPr>
            <a:spLocks noGrp="1"/>
          </p:cNvSpPr>
          <p:nvPr>
            <p:ph type="dt" sz="half" idx="10"/>
          </p:nvPr>
        </p:nvSpPr>
        <p:spPr/>
        <p:txBody>
          <a:bodyPr/>
          <a:lstStyle/>
          <a:p>
            <a:fld id="{F6C20C27-41C8-4802-91C9-34D8AD9AE9DA}" type="datetimeFigureOut">
              <a:rPr lang="en-US" smtClean="0"/>
              <a:t>01-Jul-26</a:t>
            </a:fld>
            <a:endParaRPr lang="en-US"/>
          </a:p>
        </p:txBody>
      </p:sp>
      <p:sp>
        <p:nvSpPr>
          <p:cNvPr id="5" name="Footer Placeholder 4">
            <a:extLst>
              <a:ext uri="{FF2B5EF4-FFF2-40B4-BE49-F238E27FC236}">
                <a16:creationId xmlns:a16="http://schemas.microsoft.com/office/drawing/2014/main" id="{88EB7C6D-C27C-78BE-D52C-6915B0B229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23D17D-421C-7405-D383-07D14708141E}"/>
              </a:ext>
            </a:extLst>
          </p:cNvPr>
          <p:cNvSpPr>
            <a:spLocks noGrp="1"/>
          </p:cNvSpPr>
          <p:nvPr>
            <p:ph type="sldNum" sz="quarter" idx="12"/>
          </p:nvPr>
        </p:nvSpPr>
        <p:spPr/>
        <p:txBody>
          <a:bodyPr/>
          <a:lstStyle/>
          <a:p>
            <a:fld id="{87F03B4E-5093-435D-A0F9-319C40913D6E}" type="slidenum">
              <a:rPr lang="en-US" smtClean="0"/>
              <a:t>‹#›</a:t>
            </a:fld>
            <a:endParaRPr lang="en-US"/>
          </a:p>
        </p:txBody>
      </p:sp>
    </p:spTree>
    <p:extLst>
      <p:ext uri="{BB962C8B-B14F-4D97-AF65-F5344CB8AC3E}">
        <p14:creationId xmlns:p14="http://schemas.microsoft.com/office/powerpoint/2010/main" val="280742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ED28D-CA83-E757-E479-24EC870570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0C87CC1-91DA-2765-5CBF-C9D21363EE7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C0A50D5-42FF-66F0-0956-8ED5C88D654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73D62F8-77EE-5E96-A387-53FB8F027061}"/>
              </a:ext>
            </a:extLst>
          </p:cNvPr>
          <p:cNvSpPr>
            <a:spLocks noGrp="1"/>
          </p:cNvSpPr>
          <p:nvPr>
            <p:ph type="dt" sz="half" idx="10"/>
          </p:nvPr>
        </p:nvSpPr>
        <p:spPr/>
        <p:txBody>
          <a:bodyPr/>
          <a:lstStyle/>
          <a:p>
            <a:fld id="{F6C20C27-41C8-4802-91C9-34D8AD9AE9DA}" type="datetimeFigureOut">
              <a:rPr lang="en-US" smtClean="0"/>
              <a:t>01-Jul-26</a:t>
            </a:fld>
            <a:endParaRPr lang="en-US"/>
          </a:p>
        </p:txBody>
      </p:sp>
      <p:sp>
        <p:nvSpPr>
          <p:cNvPr id="6" name="Footer Placeholder 5">
            <a:extLst>
              <a:ext uri="{FF2B5EF4-FFF2-40B4-BE49-F238E27FC236}">
                <a16:creationId xmlns:a16="http://schemas.microsoft.com/office/drawing/2014/main" id="{8E2813DF-9690-2CC2-0A7C-FD956E7F1C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EA10C-2B3E-98DE-D151-79481727C8C3}"/>
              </a:ext>
            </a:extLst>
          </p:cNvPr>
          <p:cNvSpPr>
            <a:spLocks noGrp="1"/>
          </p:cNvSpPr>
          <p:nvPr>
            <p:ph type="sldNum" sz="quarter" idx="12"/>
          </p:nvPr>
        </p:nvSpPr>
        <p:spPr/>
        <p:txBody>
          <a:bodyPr/>
          <a:lstStyle/>
          <a:p>
            <a:fld id="{87F03B4E-5093-435D-A0F9-319C40913D6E}" type="slidenum">
              <a:rPr lang="en-US" smtClean="0"/>
              <a:t>‹#›</a:t>
            </a:fld>
            <a:endParaRPr lang="en-US"/>
          </a:p>
        </p:txBody>
      </p:sp>
    </p:spTree>
    <p:extLst>
      <p:ext uri="{BB962C8B-B14F-4D97-AF65-F5344CB8AC3E}">
        <p14:creationId xmlns:p14="http://schemas.microsoft.com/office/powerpoint/2010/main" val="1519661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D1B78-5F02-4459-7130-107C72D57B3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8D4A2B9-2169-0DAB-6F17-F44E1AB3944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C251501-F85C-88B1-31F9-6E887EA606A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7BB9A0F-8E18-A51A-EA0A-2F6CABA02B8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EF31144-83F0-6684-35C2-6D76719649F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AD41383-4B4F-D938-63F0-D3F2F0D37E24}"/>
              </a:ext>
            </a:extLst>
          </p:cNvPr>
          <p:cNvSpPr>
            <a:spLocks noGrp="1"/>
          </p:cNvSpPr>
          <p:nvPr>
            <p:ph type="dt" sz="half" idx="10"/>
          </p:nvPr>
        </p:nvSpPr>
        <p:spPr/>
        <p:txBody>
          <a:bodyPr/>
          <a:lstStyle/>
          <a:p>
            <a:fld id="{F6C20C27-41C8-4802-91C9-34D8AD9AE9DA}" type="datetimeFigureOut">
              <a:rPr lang="en-US" smtClean="0"/>
              <a:t>01-Jul-26</a:t>
            </a:fld>
            <a:endParaRPr lang="en-US"/>
          </a:p>
        </p:txBody>
      </p:sp>
      <p:sp>
        <p:nvSpPr>
          <p:cNvPr id="8" name="Footer Placeholder 7">
            <a:extLst>
              <a:ext uri="{FF2B5EF4-FFF2-40B4-BE49-F238E27FC236}">
                <a16:creationId xmlns:a16="http://schemas.microsoft.com/office/drawing/2014/main" id="{BE12903A-E266-636B-2B7E-E0EECC6C733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37A6196-0234-06F4-831C-66293650A606}"/>
              </a:ext>
            </a:extLst>
          </p:cNvPr>
          <p:cNvSpPr>
            <a:spLocks noGrp="1"/>
          </p:cNvSpPr>
          <p:nvPr>
            <p:ph type="sldNum" sz="quarter" idx="12"/>
          </p:nvPr>
        </p:nvSpPr>
        <p:spPr/>
        <p:txBody>
          <a:bodyPr/>
          <a:lstStyle/>
          <a:p>
            <a:fld id="{87F03B4E-5093-435D-A0F9-319C40913D6E}" type="slidenum">
              <a:rPr lang="en-US" smtClean="0"/>
              <a:t>‹#›</a:t>
            </a:fld>
            <a:endParaRPr lang="en-US"/>
          </a:p>
        </p:txBody>
      </p:sp>
    </p:spTree>
    <p:extLst>
      <p:ext uri="{BB962C8B-B14F-4D97-AF65-F5344CB8AC3E}">
        <p14:creationId xmlns:p14="http://schemas.microsoft.com/office/powerpoint/2010/main" val="3047607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DC8C0-22B7-D0AD-2037-8367682E70C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C679793-2F67-C421-3450-3F4B7E5A81EB}"/>
              </a:ext>
            </a:extLst>
          </p:cNvPr>
          <p:cNvSpPr>
            <a:spLocks noGrp="1"/>
          </p:cNvSpPr>
          <p:nvPr>
            <p:ph type="dt" sz="half" idx="10"/>
          </p:nvPr>
        </p:nvSpPr>
        <p:spPr/>
        <p:txBody>
          <a:bodyPr/>
          <a:lstStyle/>
          <a:p>
            <a:fld id="{F6C20C27-41C8-4802-91C9-34D8AD9AE9DA}" type="datetimeFigureOut">
              <a:rPr lang="en-US" smtClean="0"/>
              <a:t>01-Jul-26</a:t>
            </a:fld>
            <a:endParaRPr lang="en-US"/>
          </a:p>
        </p:txBody>
      </p:sp>
      <p:sp>
        <p:nvSpPr>
          <p:cNvPr id="4" name="Footer Placeholder 3">
            <a:extLst>
              <a:ext uri="{FF2B5EF4-FFF2-40B4-BE49-F238E27FC236}">
                <a16:creationId xmlns:a16="http://schemas.microsoft.com/office/drawing/2014/main" id="{E3C10D15-7C7C-D642-5C76-40E20282421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133B743-347F-6034-1AB5-266608BA6E75}"/>
              </a:ext>
            </a:extLst>
          </p:cNvPr>
          <p:cNvSpPr>
            <a:spLocks noGrp="1"/>
          </p:cNvSpPr>
          <p:nvPr>
            <p:ph type="sldNum" sz="quarter" idx="12"/>
          </p:nvPr>
        </p:nvSpPr>
        <p:spPr/>
        <p:txBody>
          <a:bodyPr/>
          <a:lstStyle/>
          <a:p>
            <a:fld id="{87F03B4E-5093-435D-A0F9-319C40913D6E}" type="slidenum">
              <a:rPr lang="en-US" smtClean="0"/>
              <a:t>‹#›</a:t>
            </a:fld>
            <a:endParaRPr lang="en-US"/>
          </a:p>
        </p:txBody>
      </p:sp>
    </p:spTree>
    <p:extLst>
      <p:ext uri="{BB962C8B-B14F-4D97-AF65-F5344CB8AC3E}">
        <p14:creationId xmlns:p14="http://schemas.microsoft.com/office/powerpoint/2010/main" val="23072858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1E38F0-0460-722E-E579-65C1BBE060B7}"/>
              </a:ext>
            </a:extLst>
          </p:cNvPr>
          <p:cNvSpPr>
            <a:spLocks noGrp="1"/>
          </p:cNvSpPr>
          <p:nvPr>
            <p:ph type="dt" sz="half" idx="10"/>
          </p:nvPr>
        </p:nvSpPr>
        <p:spPr/>
        <p:txBody>
          <a:bodyPr/>
          <a:lstStyle/>
          <a:p>
            <a:fld id="{F6C20C27-41C8-4802-91C9-34D8AD9AE9DA}" type="datetimeFigureOut">
              <a:rPr lang="en-US" smtClean="0"/>
              <a:t>01-Jul-26</a:t>
            </a:fld>
            <a:endParaRPr lang="en-US"/>
          </a:p>
        </p:txBody>
      </p:sp>
      <p:sp>
        <p:nvSpPr>
          <p:cNvPr id="3" name="Footer Placeholder 2">
            <a:extLst>
              <a:ext uri="{FF2B5EF4-FFF2-40B4-BE49-F238E27FC236}">
                <a16:creationId xmlns:a16="http://schemas.microsoft.com/office/drawing/2014/main" id="{68FF5AC9-DFFD-3096-5CC1-0A5890BA8BF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2474CBD-3DD8-A999-7CDF-68846A9CC345}"/>
              </a:ext>
            </a:extLst>
          </p:cNvPr>
          <p:cNvSpPr>
            <a:spLocks noGrp="1"/>
          </p:cNvSpPr>
          <p:nvPr>
            <p:ph type="sldNum" sz="quarter" idx="12"/>
          </p:nvPr>
        </p:nvSpPr>
        <p:spPr/>
        <p:txBody>
          <a:bodyPr/>
          <a:lstStyle/>
          <a:p>
            <a:fld id="{87F03B4E-5093-435D-A0F9-319C40913D6E}" type="slidenum">
              <a:rPr lang="en-US" smtClean="0"/>
              <a:t>‹#›</a:t>
            </a:fld>
            <a:endParaRPr lang="en-US"/>
          </a:p>
        </p:txBody>
      </p:sp>
    </p:spTree>
    <p:extLst>
      <p:ext uri="{BB962C8B-B14F-4D97-AF65-F5344CB8AC3E}">
        <p14:creationId xmlns:p14="http://schemas.microsoft.com/office/powerpoint/2010/main" val="11486354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0A5E9-6405-F79F-EC40-A19221FAEA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F9B2C4E-8BEF-C05C-3C90-951F25B5F09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3E3ECF2-E52A-21C7-C87B-C7146DFF01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4C88DC-90E7-FF15-EFC1-BC684E37077A}"/>
              </a:ext>
            </a:extLst>
          </p:cNvPr>
          <p:cNvSpPr>
            <a:spLocks noGrp="1"/>
          </p:cNvSpPr>
          <p:nvPr>
            <p:ph type="dt" sz="half" idx="10"/>
          </p:nvPr>
        </p:nvSpPr>
        <p:spPr/>
        <p:txBody>
          <a:bodyPr/>
          <a:lstStyle/>
          <a:p>
            <a:fld id="{F6C20C27-41C8-4802-91C9-34D8AD9AE9DA}" type="datetimeFigureOut">
              <a:rPr lang="en-US" smtClean="0"/>
              <a:t>01-Jul-26</a:t>
            </a:fld>
            <a:endParaRPr lang="en-US"/>
          </a:p>
        </p:txBody>
      </p:sp>
      <p:sp>
        <p:nvSpPr>
          <p:cNvPr id="6" name="Footer Placeholder 5">
            <a:extLst>
              <a:ext uri="{FF2B5EF4-FFF2-40B4-BE49-F238E27FC236}">
                <a16:creationId xmlns:a16="http://schemas.microsoft.com/office/drawing/2014/main" id="{EB416807-0104-F649-68F9-91B05D478C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8EFFBCA-6115-9A61-4C64-B81FC4A584AE}"/>
              </a:ext>
            </a:extLst>
          </p:cNvPr>
          <p:cNvSpPr>
            <a:spLocks noGrp="1"/>
          </p:cNvSpPr>
          <p:nvPr>
            <p:ph type="sldNum" sz="quarter" idx="12"/>
          </p:nvPr>
        </p:nvSpPr>
        <p:spPr/>
        <p:txBody>
          <a:bodyPr/>
          <a:lstStyle/>
          <a:p>
            <a:fld id="{87F03B4E-5093-435D-A0F9-319C40913D6E}" type="slidenum">
              <a:rPr lang="en-US" smtClean="0"/>
              <a:t>‹#›</a:t>
            </a:fld>
            <a:endParaRPr lang="en-US"/>
          </a:p>
        </p:txBody>
      </p:sp>
    </p:spTree>
    <p:extLst>
      <p:ext uri="{BB962C8B-B14F-4D97-AF65-F5344CB8AC3E}">
        <p14:creationId xmlns:p14="http://schemas.microsoft.com/office/powerpoint/2010/main" val="25799202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F1E28-0248-4179-0EAC-F09E7544EB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A988B72-B9E5-9F92-3F5C-31B6F7497A3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73670BC-C4CD-7CA2-AD2F-EED7DB465C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3EECD0-900A-75B4-C1CE-1D227C7B01FC}"/>
              </a:ext>
            </a:extLst>
          </p:cNvPr>
          <p:cNvSpPr>
            <a:spLocks noGrp="1"/>
          </p:cNvSpPr>
          <p:nvPr>
            <p:ph type="dt" sz="half" idx="10"/>
          </p:nvPr>
        </p:nvSpPr>
        <p:spPr/>
        <p:txBody>
          <a:bodyPr/>
          <a:lstStyle/>
          <a:p>
            <a:fld id="{F6C20C27-41C8-4802-91C9-34D8AD9AE9DA}" type="datetimeFigureOut">
              <a:rPr lang="en-US" smtClean="0"/>
              <a:t>01-Jul-26</a:t>
            </a:fld>
            <a:endParaRPr lang="en-US"/>
          </a:p>
        </p:txBody>
      </p:sp>
      <p:sp>
        <p:nvSpPr>
          <p:cNvPr id="6" name="Footer Placeholder 5">
            <a:extLst>
              <a:ext uri="{FF2B5EF4-FFF2-40B4-BE49-F238E27FC236}">
                <a16:creationId xmlns:a16="http://schemas.microsoft.com/office/drawing/2014/main" id="{CC150854-2F17-F63E-F3ED-1453A5E561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A0D3A3-EBD2-3F74-6755-353D37902578}"/>
              </a:ext>
            </a:extLst>
          </p:cNvPr>
          <p:cNvSpPr>
            <a:spLocks noGrp="1"/>
          </p:cNvSpPr>
          <p:nvPr>
            <p:ph type="sldNum" sz="quarter" idx="12"/>
          </p:nvPr>
        </p:nvSpPr>
        <p:spPr/>
        <p:txBody>
          <a:bodyPr/>
          <a:lstStyle/>
          <a:p>
            <a:fld id="{87F03B4E-5093-435D-A0F9-319C40913D6E}" type="slidenum">
              <a:rPr lang="en-US" smtClean="0"/>
              <a:t>‹#›</a:t>
            </a:fld>
            <a:endParaRPr lang="en-US"/>
          </a:p>
        </p:txBody>
      </p:sp>
    </p:spTree>
    <p:extLst>
      <p:ext uri="{BB962C8B-B14F-4D97-AF65-F5344CB8AC3E}">
        <p14:creationId xmlns:p14="http://schemas.microsoft.com/office/powerpoint/2010/main" val="21186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A6F76-4A48-B481-BB0D-841A4C18238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FC94D4A-2434-7AE9-C03E-D349CF0F60D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6A033F-1A46-5035-ACBC-87D9163F20DE}"/>
              </a:ext>
            </a:extLst>
          </p:cNvPr>
          <p:cNvSpPr>
            <a:spLocks noGrp="1"/>
          </p:cNvSpPr>
          <p:nvPr>
            <p:ph type="dt" sz="half" idx="10"/>
          </p:nvPr>
        </p:nvSpPr>
        <p:spPr/>
        <p:txBody>
          <a:bodyPr/>
          <a:lstStyle/>
          <a:p>
            <a:fld id="{F6C20C27-41C8-4802-91C9-34D8AD9AE9DA}" type="datetimeFigureOut">
              <a:rPr lang="en-US" smtClean="0"/>
              <a:t>01-Jul-26</a:t>
            </a:fld>
            <a:endParaRPr lang="en-US"/>
          </a:p>
        </p:txBody>
      </p:sp>
      <p:sp>
        <p:nvSpPr>
          <p:cNvPr id="5" name="Footer Placeholder 4">
            <a:extLst>
              <a:ext uri="{FF2B5EF4-FFF2-40B4-BE49-F238E27FC236}">
                <a16:creationId xmlns:a16="http://schemas.microsoft.com/office/drawing/2014/main" id="{50C74544-2498-0C51-E32C-1DEA5A6D9D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F4209F-7CE7-70C7-0885-FE13B56FFD59}"/>
              </a:ext>
            </a:extLst>
          </p:cNvPr>
          <p:cNvSpPr>
            <a:spLocks noGrp="1"/>
          </p:cNvSpPr>
          <p:nvPr>
            <p:ph type="sldNum" sz="quarter" idx="12"/>
          </p:nvPr>
        </p:nvSpPr>
        <p:spPr/>
        <p:txBody>
          <a:bodyPr/>
          <a:lstStyle/>
          <a:p>
            <a:fld id="{87F03B4E-5093-435D-A0F9-319C40913D6E}" type="slidenum">
              <a:rPr lang="en-US" smtClean="0"/>
              <a:t>‹#›</a:t>
            </a:fld>
            <a:endParaRPr lang="en-US"/>
          </a:p>
        </p:txBody>
      </p:sp>
    </p:spTree>
    <p:extLst>
      <p:ext uri="{BB962C8B-B14F-4D97-AF65-F5344CB8AC3E}">
        <p14:creationId xmlns:p14="http://schemas.microsoft.com/office/powerpoint/2010/main" val="29452773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32D4239-F409-060C-8398-E62E9E9AB80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6BD55CC-76CD-46D4-8899-CB9A1461926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E3B2A3-9180-3BCA-3230-1F09FED26336}"/>
              </a:ext>
            </a:extLst>
          </p:cNvPr>
          <p:cNvSpPr>
            <a:spLocks noGrp="1"/>
          </p:cNvSpPr>
          <p:nvPr>
            <p:ph type="dt" sz="half" idx="10"/>
          </p:nvPr>
        </p:nvSpPr>
        <p:spPr/>
        <p:txBody>
          <a:bodyPr/>
          <a:lstStyle/>
          <a:p>
            <a:fld id="{F6C20C27-41C8-4802-91C9-34D8AD9AE9DA}" type="datetimeFigureOut">
              <a:rPr lang="en-US" smtClean="0"/>
              <a:t>01-Jul-26</a:t>
            </a:fld>
            <a:endParaRPr lang="en-US"/>
          </a:p>
        </p:txBody>
      </p:sp>
      <p:sp>
        <p:nvSpPr>
          <p:cNvPr id="5" name="Footer Placeholder 4">
            <a:extLst>
              <a:ext uri="{FF2B5EF4-FFF2-40B4-BE49-F238E27FC236}">
                <a16:creationId xmlns:a16="http://schemas.microsoft.com/office/drawing/2014/main" id="{A37AAC2A-C191-8A43-472D-12FD5A1C83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4BBEF3-F2AA-ED1F-D0B6-B2C09FCF932C}"/>
              </a:ext>
            </a:extLst>
          </p:cNvPr>
          <p:cNvSpPr>
            <a:spLocks noGrp="1"/>
          </p:cNvSpPr>
          <p:nvPr>
            <p:ph type="sldNum" sz="quarter" idx="12"/>
          </p:nvPr>
        </p:nvSpPr>
        <p:spPr/>
        <p:txBody>
          <a:bodyPr/>
          <a:lstStyle/>
          <a:p>
            <a:fld id="{87F03B4E-5093-435D-A0F9-319C40913D6E}" type="slidenum">
              <a:rPr lang="en-US" smtClean="0"/>
              <a:t>‹#›</a:t>
            </a:fld>
            <a:endParaRPr lang="en-US"/>
          </a:p>
        </p:txBody>
      </p:sp>
    </p:spTree>
    <p:extLst>
      <p:ext uri="{BB962C8B-B14F-4D97-AF65-F5344CB8AC3E}">
        <p14:creationId xmlns:p14="http://schemas.microsoft.com/office/powerpoint/2010/main" val="4110985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B93E7D-1BA0-4DEC-EC64-0E402C79FF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B77AA4D-850A-A9E0-22B9-98F7AFF39A7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A873AF-DD38-D6F6-6057-6DD2CA2D62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6C20C27-41C8-4802-91C9-34D8AD9AE9DA}" type="datetimeFigureOut">
              <a:rPr lang="en-US" smtClean="0"/>
              <a:t>01-Jul-26</a:t>
            </a:fld>
            <a:endParaRPr lang="en-US"/>
          </a:p>
        </p:txBody>
      </p:sp>
      <p:sp>
        <p:nvSpPr>
          <p:cNvPr id="5" name="Footer Placeholder 4">
            <a:extLst>
              <a:ext uri="{FF2B5EF4-FFF2-40B4-BE49-F238E27FC236}">
                <a16:creationId xmlns:a16="http://schemas.microsoft.com/office/drawing/2014/main" id="{AF77ACCC-352E-BB72-5647-457EC304BD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5B8A9E0-F9D8-20FE-D321-4E416E1426A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7F03B4E-5093-435D-A0F9-319C40913D6E}" type="slidenum">
              <a:rPr lang="en-US" smtClean="0"/>
              <a:t>‹#›</a:t>
            </a:fld>
            <a:endParaRPr lang="en-US"/>
          </a:p>
        </p:txBody>
      </p:sp>
    </p:spTree>
    <p:extLst>
      <p:ext uri="{BB962C8B-B14F-4D97-AF65-F5344CB8AC3E}">
        <p14:creationId xmlns:p14="http://schemas.microsoft.com/office/powerpoint/2010/main" val="2066215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public.tableau.com/app/profile/ezanagebremichael" TargetMode="External"/><Relationship Id="rId2" Type="http://schemas.openxmlformats.org/officeDocument/2006/relationships/hyperlink" Target="http://www.linkedin.com/in/ezanagebremichae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44924-7743-FB47-E509-6B163CDABE16}"/>
              </a:ext>
            </a:extLst>
          </p:cNvPr>
          <p:cNvSpPr>
            <a:spLocks noGrp="1"/>
          </p:cNvSpPr>
          <p:nvPr>
            <p:ph type="ctrTitle"/>
          </p:nvPr>
        </p:nvSpPr>
        <p:spPr>
          <a:xfrm>
            <a:off x="740229" y="1122363"/>
            <a:ext cx="9927771" cy="2387600"/>
          </a:xfrm>
        </p:spPr>
        <p:txBody>
          <a:bodyPr/>
          <a:lstStyle/>
          <a:p>
            <a:pPr algn="l"/>
            <a:r>
              <a:rPr lang="en-US" b="1" dirty="0">
                <a:solidFill>
                  <a:srgbClr val="B88AA6"/>
                </a:solidFill>
              </a:rPr>
              <a:t>Bellabeat Smart Device Usage Analysis</a:t>
            </a:r>
          </a:p>
        </p:txBody>
      </p:sp>
      <p:sp>
        <p:nvSpPr>
          <p:cNvPr id="3" name="Subtitle 2">
            <a:extLst>
              <a:ext uri="{FF2B5EF4-FFF2-40B4-BE49-F238E27FC236}">
                <a16:creationId xmlns:a16="http://schemas.microsoft.com/office/drawing/2014/main" id="{8C73FA52-9934-C633-ED24-F2649BED01B4}"/>
              </a:ext>
            </a:extLst>
          </p:cNvPr>
          <p:cNvSpPr>
            <a:spLocks noGrp="1"/>
          </p:cNvSpPr>
          <p:nvPr>
            <p:ph type="subTitle" idx="1"/>
          </p:nvPr>
        </p:nvSpPr>
        <p:spPr>
          <a:xfrm>
            <a:off x="740229" y="3823066"/>
            <a:ext cx="9927771" cy="1521823"/>
          </a:xfrm>
        </p:spPr>
        <p:txBody>
          <a:bodyPr>
            <a:normAutofit/>
          </a:bodyPr>
          <a:lstStyle/>
          <a:p>
            <a:pPr algn="l">
              <a:spcBef>
                <a:spcPts val="600"/>
              </a:spcBef>
            </a:pPr>
            <a:r>
              <a:rPr lang="en-US" sz="2800" b="1" dirty="0">
                <a:solidFill>
                  <a:srgbClr val="B88AA6"/>
                </a:solidFill>
              </a:rPr>
              <a:t>Ezana Gebremichael</a:t>
            </a:r>
          </a:p>
          <a:p>
            <a:pPr algn="l">
              <a:spcBef>
                <a:spcPts val="600"/>
              </a:spcBef>
            </a:pPr>
            <a:r>
              <a:rPr lang="en-US" sz="2800" dirty="0">
                <a:solidFill>
                  <a:schemeClr val="tx1">
                    <a:lumMod val="65000"/>
                    <a:lumOff val="35000"/>
                  </a:schemeClr>
                </a:solidFill>
              </a:rPr>
              <a:t>June 2026</a:t>
            </a:r>
          </a:p>
        </p:txBody>
      </p:sp>
      <p:sp>
        <p:nvSpPr>
          <p:cNvPr id="4" name="Rectangle 3">
            <a:extLst>
              <a:ext uri="{FF2B5EF4-FFF2-40B4-BE49-F238E27FC236}">
                <a16:creationId xmlns:a16="http://schemas.microsoft.com/office/drawing/2014/main" id="{FD2A4E68-3452-85B2-C202-151765431C48}"/>
              </a:ext>
            </a:extLst>
          </p:cNvPr>
          <p:cNvSpPr/>
          <p:nvPr/>
        </p:nvSpPr>
        <p:spPr>
          <a:xfrm>
            <a:off x="844732" y="3626032"/>
            <a:ext cx="1828800" cy="45720"/>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50000"/>
                  <a:lumOff val="50000"/>
                </a:schemeClr>
              </a:solidFill>
            </a:endParaRPr>
          </a:p>
        </p:txBody>
      </p:sp>
    </p:spTree>
    <p:extLst>
      <p:ext uri="{BB962C8B-B14F-4D97-AF65-F5344CB8AC3E}">
        <p14:creationId xmlns:p14="http://schemas.microsoft.com/office/powerpoint/2010/main" val="34767129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0BFD3B-4404-DCC3-2FC8-5A651E94B04B}"/>
              </a:ext>
            </a:extLst>
          </p:cNvPr>
          <p:cNvSpPr>
            <a:spLocks noGrp="1"/>
          </p:cNvSpPr>
          <p:nvPr>
            <p:ph idx="1"/>
          </p:nvPr>
        </p:nvSpPr>
        <p:spPr>
          <a:xfrm>
            <a:off x="4467497" y="2647991"/>
            <a:ext cx="6670765" cy="1392786"/>
          </a:xfrm>
        </p:spPr>
        <p:txBody>
          <a:bodyPr>
            <a:noAutofit/>
          </a:bodyPr>
          <a:lstStyle/>
          <a:p>
            <a:pPr marL="0" indent="0">
              <a:lnSpc>
                <a:spcPct val="100000"/>
              </a:lnSpc>
              <a:buNone/>
            </a:pPr>
            <a:r>
              <a:rPr lang="en-US" sz="2200" dirty="0">
                <a:solidFill>
                  <a:schemeClr val="tx1">
                    <a:lumMod val="65000"/>
                    <a:lumOff val="35000"/>
                  </a:schemeClr>
                </a:solidFill>
              </a:rPr>
              <a:t>Analyze non-Bellabeat fitness tracker data to identify usage trends, then translate those insights into actionable marketing recommendations for a Bellabeat product.</a:t>
            </a:r>
          </a:p>
        </p:txBody>
      </p:sp>
      <p:sp>
        <p:nvSpPr>
          <p:cNvPr id="5" name="Content Placeholder 2">
            <a:extLst>
              <a:ext uri="{FF2B5EF4-FFF2-40B4-BE49-F238E27FC236}">
                <a16:creationId xmlns:a16="http://schemas.microsoft.com/office/drawing/2014/main" id="{CE092BBE-AA1C-2E75-CBD0-CFC03790AD07}"/>
              </a:ext>
            </a:extLst>
          </p:cNvPr>
          <p:cNvSpPr txBox="1">
            <a:spLocks/>
          </p:cNvSpPr>
          <p:nvPr/>
        </p:nvSpPr>
        <p:spPr>
          <a:xfrm>
            <a:off x="1345480" y="2691538"/>
            <a:ext cx="2268583" cy="134923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solidFill>
                  <a:srgbClr val="B88AA6"/>
                </a:solidFill>
              </a:rPr>
              <a:t>Business Task</a:t>
            </a:r>
          </a:p>
        </p:txBody>
      </p:sp>
    </p:spTree>
    <p:extLst>
      <p:ext uri="{BB962C8B-B14F-4D97-AF65-F5344CB8AC3E}">
        <p14:creationId xmlns:p14="http://schemas.microsoft.com/office/powerpoint/2010/main" val="12661586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0750EA-6F2E-AD5F-5B74-13ED59CCE100}"/>
              </a:ext>
            </a:extLst>
          </p:cNvPr>
          <p:cNvSpPr>
            <a:spLocks noGrp="1"/>
          </p:cNvSpPr>
          <p:nvPr>
            <p:ph idx="1"/>
          </p:nvPr>
        </p:nvSpPr>
        <p:spPr>
          <a:xfrm>
            <a:off x="4376057" y="2514600"/>
            <a:ext cx="6675120" cy="1561011"/>
          </a:xfrm>
        </p:spPr>
        <p:txBody>
          <a:bodyPr>
            <a:normAutofit/>
          </a:bodyPr>
          <a:lstStyle/>
          <a:p>
            <a:pPr marL="457200" indent="-457200">
              <a:lnSpc>
                <a:spcPct val="100000"/>
              </a:lnSpc>
              <a:buAutoNum type="arabicPeriod"/>
            </a:pPr>
            <a:r>
              <a:rPr lang="en-US" sz="2200" dirty="0">
                <a:solidFill>
                  <a:schemeClr val="tx1">
                    <a:lumMod val="65000"/>
                    <a:lumOff val="35000"/>
                  </a:schemeClr>
                </a:solidFill>
              </a:rPr>
              <a:t>What are some trends in smart device usage? </a:t>
            </a:r>
          </a:p>
          <a:p>
            <a:pPr marL="457200" indent="-457200">
              <a:lnSpc>
                <a:spcPct val="100000"/>
              </a:lnSpc>
              <a:buAutoNum type="arabicPeriod"/>
            </a:pPr>
            <a:r>
              <a:rPr lang="en-US" sz="2200" dirty="0">
                <a:solidFill>
                  <a:schemeClr val="tx1">
                    <a:lumMod val="65000"/>
                    <a:lumOff val="35000"/>
                  </a:schemeClr>
                </a:solidFill>
              </a:rPr>
              <a:t>How could these trends apply to Bellabeat customers and help influence Bellabeat’s marketing strategy? </a:t>
            </a:r>
          </a:p>
        </p:txBody>
      </p:sp>
      <p:sp>
        <p:nvSpPr>
          <p:cNvPr id="5" name="Content Placeholder 2">
            <a:extLst>
              <a:ext uri="{FF2B5EF4-FFF2-40B4-BE49-F238E27FC236}">
                <a16:creationId xmlns:a16="http://schemas.microsoft.com/office/drawing/2014/main" id="{ECAD4C65-0A1B-9314-B6CD-C1A70ECA107D}"/>
              </a:ext>
            </a:extLst>
          </p:cNvPr>
          <p:cNvSpPr txBox="1">
            <a:spLocks/>
          </p:cNvSpPr>
          <p:nvPr/>
        </p:nvSpPr>
        <p:spPr>
          <a:xfrm>
            <a:off x="1345480" y="2514600"/>
            <a:ext cx="2268583" cy="15610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solidFill>
                  <a:srgbClr val="B88AA6"/>
                </a:solidFill>
              </a:rPr>
              <a:t>Questions:</a:t>
            </a:r>
          </a:p>
        </p:txBody>
      </p:sp>
    </p:spTree>
    <p:extLst>
      <p:ext uri="{BB962C8B-B14F-4D97-AF65-F5344CB8AC3E}">
        <p14:creationId xmlns:p14="http://schemas.microsoft.com/office/powerpoint/2010/main" val="2267280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ECF15-F758-EBED-827F-6AC477D6AA2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6E431D-430E-B743-4104-462F4DE9C629}"/>
              </a:ext>
            </a:extLst>
          </p:cNvPr>
          <p:cNvSpPr>
            <a:spLocks noGrp="1"/>
          </p:cNvSpPr>
          <p:nvPr>
            <p:ph idx="1"/>
          </p:nvPr>
        </p:nvSpPr>
        <p:spPr>
          <a:xfrm>
            <a:off x="4376057" y="2514600"/>
            <a:ext cx="6675120" cy="1578429"/>
          </a:xfrm>
        </p:spPr>
        <p:txBody>
          <a:bodyPr>
            <a:normAutofit/>
          </a:bodyPr>
          <a:lstStyle/>
          <a:p>
            <a:pPr marL="457200" indent="-457200">
              <a:lnSpc>
                <a:spcPct val="100000"/>
              </a:lnSpc>
              <a:buAutoNum type="arabicPeriod"/>
            </a:pPr>
            <a:r>
              <a:rPr lang="en-US" sz="2200" dirty="0">
                <a:solidFill>
                  <a:schemeClr val="tx1">
                    <a:lumMod val="65000"/>
                    <a:lumOff val="35000"/>
                  </a:schemeClr>
                </a:solidFill>
              </a:rPr>
              <a:t>What are some trends in smart device usage? </a:t>
            </a:r>
          </a:p>
          <a:p>
            <a:pPr marL="457200" indent="-457200">
              <a:lnSpc>
                <a:spcPct val="100000"/>
              </a:lnSpc>
              <a:buAutoNum type="arabicPeriod"/>
            </a:pPr>
            <a:r>
              <a:rPr lang="en-US" sz="2200" dirty="0">
                <a:solidFill>
                  <a:schemeClr val="bg2">
                    <a:lumMod val="90000"/>
                  </a:schemeClr>
                </a:solidFill>
              </a:rPr>
              <a:t>How could these trends apply to Bellabeat customers and help influence Bellabeat’s marketing strategy? </a:t>
            </a:r>
          </a:p>
        </p:txBody>
      </p:sp>
      <p:sp>
        <p:nvSpPr>
          <p:cNvPr id="5" name="Content Placeholder 2">
            <a:extLst>
              <a:ext uri="{FF2B5EF4-FFF2-40B4-BE49-F238E27FC236}">
                <a16:creationId xmlns:a16="http://schemas.microsoft.com/office/drawing/2014/main" id="{E587B475-339B-59A7-6003-9609FFE919D5}"/>
              </a:ext>
            </a:extLst>
          </p:cNvPr>
          <p:cNvSpPr txBox="1">
            <a:spLocks/>
          </p:cNvSpPr>
          <p:nvPr/>
        </p:nvSpPr>
        <p:spPr>
          <a:xfrm>
            <a:off x="1345480" y="2514599"/>
            <a:ext cx="2268583" cy="157842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solidFill>
                  <a:srgbClr val="B88AA6"/>
                </a:solidFill>
              </a:rPr>
              <a:t>Questions:</a:t>
            </a:r>
          </a:p>
        </p:txBody>
      </p:sp>
    </p:spTree>
    <p:extLst>
      <p:ext uri="{BB962C8B-B14F-4D97-AF65-F5344CB8AC3E}">
        <p14:creationId xmlns:p14="http://schemas.microsoft.com/office/powerpoint/2010/main" val="25715665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AEDE7-9896-2C6E-66D8-1ED42D844D26}"/>
              </a:ext>
            </a:extLst>
          </p:cNvPr>
          <p:cNvSpPr>
            <a:spLocks noGrp="1"/>
          </p:cNvSpPr>
          <p:nvPr>
            <p:ph type="title"/>
          </p:nvPr>
        </p:nvSpPr>
        <p:spPr>
          <a:xfrm>
            <a:off x="838200" y="2457994"/>
            <a:ext cx="3566160" cy="1942012"/>
          </a:xfrm>
        </p:spPr>
        <p:txBody>
          <a:bodyPr>
            <a:normAutofit/>
          </a:bodyPr>
          <a:lstStyle/>
          <a:p>
            <a:r>
              <a:rPr lang="en-US" sz="2400" b="1" dirty="0">
                <a:solidFill>
                  <a:srgbClr val="B88AA6"/>
                </a:solidFill>
              </a:rPr>
              <a:t>Most Users Are Sedentary (34.3%)</a:t>
            </a:r>
            <a:br>
              <a:rPr lang="en-US" sz="2400" dirty="0"/>
            </a:br>
            <a:br>
              <a:rPr lang="en-US" sz="2400" dirty="0"/>
            </a:br>
            <a:r>
              <a:rPr lang="en-US" sz="2000" dirty="0">
                <a:solidFill>
                  <a:schemeClr val="tx1">
                    <a:lumMod val="65000"/>
                    <a:lumOff val="35000"/>
                  </a:schemeClr>
                </a:solidFill>
              </a:rPr>
              <a:t>Larger than very active users combined with lightly active users</a:t>
            </a:r>
          </a:p>
        </p:txBody>
      </p:sp>
      <p:pic>
        <p:nvPicPr>
          <p:cNvPr id="9" name="Content Placeholder 8">
            <a:extLst>
              <a:ext uri="{FF2B5EF4-FFF2-40B4-BE49-F238E27FC236}">
                <a16:creationId xmlns:a16="http://schemas.microsoft.com/office/drawing/2014/main" id="{685AF9CA-4F55-0BE3-6AAD-665884B06543}"/>
              </a:ext>
            </a:extLst>
          </p:cNvPr>
          <p:cNvPicPr>
            <a:picLocks noGrp="1" noChangeAspect="1"/>
          </p:cNvPicPr>
          <p:nvPr>
            <p:ph idx="1"/>
          </p:nvPr>
        </p:nvPicPr>
        <p:blipFill>
          <a:blip r:embed="rId3"/>
          <a:stretch>
            <a:fillRect/>
          </a:stretch>
        </p:blipFill>
        <p:spPr>
          <a:xfrm>
            <a:off x="5432628" y="2268831"/>
            <a:ext cx="5991451" cy="2815532"/>
          </a:xfrm>
          <a:prstGeom prst="rect">
            <a:avLst/>
          </a:prstGeom>
        </p:spPr>
      </p:pic>
    </p:spTree>
    <p:extLst>
      <p:ext uri="{BB962C8B-B14F-4D97-AF65-F5344CB8AC3E}">
        <p14:creationId xmlns:p14="http://schemas.microsoft.com/office/powerpoint/2010/main" val="1359183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A77CF-CCEF-AB42-8DC2-1DA4EECAC6A1}"/>
              </a:ext>
            </a:extLst>
          </p:cNvPr>
          <p:cNvSpPr>
            <a:spLocks noGrp="1"/>
          </p:cNvSpPr>
          <p:nvPr>
            <p:ph type="title"/>
          </p:nvPr>
        </p:nvSpPr>
        <p:spPr>
          <a:xfrm>
            <a:off x="1345480" y="2336074"/>
            <a:ext cx="6492240" cy="2185851"/>
          </a:xfrm>
        </p:spPr>
        <p:txBody>
          <a:bodyPr>
            <a:normAutofit/>
          </a:bodyPr>
          <a:lstStyle/>
          <a:p>
            <a:pPr>
              <a:lnSpc>
                <a:spcPct val="100000"/>
              </a:lnSpc>
            </a:pPr>
            <a:r>
              <a:rPr lang="en-US" sz="2400" b="1" dirty="0">
                <a:solidFill>
                  <a:srgbClr val="B88AA6"/>
                </a:solidFill>
              </a:rPr>
              <a:t>Half Of Users Don't Wear Their Device Every Day</a:t>
            </a:r>
            <a:br>
              <a:rPr lang="en-US" sz="2400" b="1" dirty="0">
                <a:solidFill>
                  <a:srgbClr val="B88AA6"/>
                </a:solidFill>
              </a:rPr>
            </a:br>
            <a:br>
              <a:rPr lang="en-US" sz="2400" b="1" dirty="0">
                <a:solidFill>
                  <a:srgbClr val="B88AA6"/>
                </a:solidFill>
              </a:rPr>
            </a:br>
            <a:r>
              <a:rPr lang="en-US" sz="2000" dirty="0">
                <a:solidFill>
                  <a:schemeClr val="tx1">
                    <a:lumMod val="65000"/>
                    <a:lumOff val="35000"/>
                  </a:schemeClr>
                </a:solidFill>
              </a:rPr>
              <a:t>Only</a:t>
            </a:r>
            <a:r>
              <a:rPr lang="en-US" sz="2000" dirty="0">
                <a:solidFill>
                  <a:schemeClr val="tx1">
                    <a:lumMod val="50000"/>
                    <a:lumOff val="50000"/>
                  </a:schemeClr>
                </a:solidFill>
              </a:rPr>
              <a:t> </a:t>
            </a:r>
            <a:r>
              <a:rPr lang="en-US" sz="2200" b="1" dirty="0">
                <a:solidFill>
                  <a:srgbClr val="FF0000"/>
                </a:solidFill>
              </a:rPr>
              <a:t>49% </a:t>
            </a:r>
            <a:r>
              <a:rPr lang="en-US" sz="2000" dirty="0">
                <a:solidFill>
                  <a:schemeClr val="tx1">
                    <a:lumMod val="65000"/>
                    <a:lumOff val="35000"/>
                  </a:schemeClr>
                </a:solidFill>
              </a:rPr>
              <a:t>of users wore their device consistently every day.</a:t>
            </a:r>
            <a:br>
              <a:rPr lang="en-US" sz="2000" dirty="0">
                <a:solidFill>
                  <a:schemeClr val="tx1">
                    <a:lumMod val="50000"/>
                    <a:lumOff val="50000"/>
                  </a:schemeClr>
                </a:solidFill>
              </a:rPr>
            </a:br>
            <a:r>
              <a:rPr lang="en-US" sz="2000" dirty="0">
                <a:solidFill>
                  <a:schemeClr val="tx1">
                    <a:lumMod val="65000"/>
                    <a:lumOff val="35000"/>
                  </a:schemeClr>
                </a:solidFill>
              </a:rPr>
              <a:t>Some users missed up to </a:t>
            </a:r>
            <a:r>
              <a:rPr lang="en-US" sz="2200" b="1" dirty="0">
                <a:solidFill>
                  <a:srgbClr val="FF0000"/>
                </a:solidFill>
              </a:rPr>
              <a:t>75% </a:t>
            </a:r>
            <a:r>
              <a:rPr lang="en-US" sz="2000" dirty="0">
                <a:solidFill>
                  <a:schemeClr val="tx1">
                    <a:lumMod val="65000"/>
                    <a:lumOff val="35000"/>
                  </a:schemeClr>
                </a:solidFill>
              </a:rPr>
              <a:t>of days.</a:t>
            </a:r>
            <a:br>
              <a:rPr lang="en-US" sz="2000" dirty="0">
                <a:solidFill>
                  <a:schemeClr val="tx1">
                    <a:lumMod val="50000"/>
                    <a:lumOff val="50000"/>
                  </a:schemeClr>
                </a:solidFill>
              </a:rPr>
            </a:br>
            <a:r>
              <a:rPr lang="en-US" sz="2000" dirty="0">
                <a:solidFill>
                  <a:schemeClr val="tx1">
                    <a:lumMod val="65000"/>
                    <a:lumOff val="35000"/>
                  </a:schemeClr>
                </a:solidFill>
              </a:rPr>
              <a:t>2 users had zero step days more than 40% of the time.</a:t>
            </a:r>
            <a:br>
              <a:rPr lang="en-US" sz="2400" dirty="0"/>
            </a:br>
            <a:endParaRPr lang="en-US" sz="2400" b="1" dirty="0">
              <a:solidFill>
                <a:srgbClr val="B88AA6"/>
              </a:solidFill>
            </a:endParaRPr>
          </a:p>
        </p:txBody>
      </p:sp>
    </p:spTree>
    <p:extLst>
      <p:ext uri="{BB962C8B-B14F-4D97-AF65-F5344CB8AC3E}">
        <p14:creationId xmlns:p14="http://schemas.microsoft.com/office/powerpoint/2010/main" val="22533964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54575-3647-FE3D-C918-F67835380ECB}"/>
              </a:ext>
            </a:extLst>
          </p:cNvPr>
          <p:cNvSpPr>
            <a:spLocks noGrp="1"/>
          </p:cNvSpPr>
          <p:nvPr>
            <p:ph type="title"/>
          </p:nvPr>
        </p:nvSpPr>
        <p:spPr>
          <a:xfrm>
            <a:off x="838200" y="2535124"/>
            <a:ext cx="3566160" cy="1787752"/>
          </a:xfrm>
        </p:spPr>
        <p:txBody>
          <a:bodyPr>
            <a:normAutofit/>
          </a:bodyPr>
          <a:lstStyle/>
          <a:p>
            <a:r>
              <a:rPr lang="en-US" sz="2400" b="1" dirty="0">
                <a:solidFill>
                  <a:srgbClr val="B88AA6"/>
                </a:solidFill>
              </a:rPr>
              <a:t>Users Are Most Active In The Evening</a:t>
            </a:r>
            <a:br>
              <a:rPr lang="en-US" sz="2400" dirty="0"/>
            </a:br>
            <a:br>
              <a:rPr lang="en-US" sz="2400" dirty="0"/>
            </a:br>
            <a:r>
              <a:rPr lang="en-US" sz="2000" dirty="0">
                <a:solidFill>
                  <a:schemeClr val="tx1">
                    <a:lumMod val="65000"/>
                    <a:lumOff val="35000"/>
                  </a:schemeClr>
                </a:solidFill>
              </a:rPr>
              <a:t>Peak activity at </a:t>
            </a:r>
            <a:r>
              <a:rPr lang="en-US" sz="2000" b="1" dirty="0">
                <a:solidFill>
                  <a:srgbClr val="0070C0"/>
                </a:solidFill>
              </a:rPr>
              <a:t>7PM</a:t>
            </a:r>
            <a:r>
              <a:rPr lang="en-US" sz="2000" dirty="0">
                <a:solidFill>
                  <a:schemeClr val="tx1">
                    <a:lumMod val="50000"/>
                    <a:lumOff val="50000"/>
                  </a:schemeClr>
                </a:solidFill>
              </a:rPr>
              <a:t> </a:t>
            </a:r>
            <a:r>
              <a:rPr lang="en-US" sz="2000" dirty="0">
                <a:solidFill>
                  <a:schemeClr val="tx1">
                    <a:lumMod val="65000"/>
                    <a:lumOff val="35000"/>
                  </a:schemeClr>
                </a:solidFill>
              </a:rPr>
              <a:t>with</a:t>
            </a:r>
            <a:r>
              <a:rPr lang="en-US" sz="2000" dirty="0">
                <a:solidFill>
                  <a:schemeClr val="tx1">
                    <a:lumMod val="50000"/>
                    <a:lumOff val="50000"/>
                  </a:schemeClr>
                </a:solidFill>
              </a:rPr>
              <a:t> </a:t>
            </a:r>
            <a:r>
              <a:rPr lang="en-US" sz="2000" dirty="0">
                <a:solidFill>
                  <a:schemeClr val="tx1">
                    <a:lumMod val="65000"/>
                    <a:lumOff val="35000"/>
                  </a:schemeClr>
                </a:solidFill>
              </a:rPr>
              <a:t>average 554 steps per hour</a:t>
            </a:r>
          </a:p>
        </p:txBody>
      </p:sp>
      <p:pic>
        <p:nvPicPr>
          <p:cNvPr id="5" name="Content Placeholder 4">
            <a:extLst>
              <a:ext uri="{FF2B5EF4-FFF2-40B4-BE49-F238E27FC236}">
                <a16:creationId xmlns:a16="http://schemas.microsoft.com/office/drawing/2014/main" id="{EEC51901-07CF-8A6C-78BD-23B14F214E93}"/>
              </a:ext>
            </a:extLst>
          </p:cNvPr>
          <p:cNvPicPr>
            <a:picLocks noGrp="1" noChangeAspect="1"/>
          </p:cNvPicPr>
          <p:nvPr>
            <p:ph idx="1"/>
          </p:nvPr>
        </p:nvPicPr>
        <p:blipFill>
          <a:blip r:embed="rId3"/>
          <a:stretch>
            <a:fillRect/>
          </a:stretch>
        </p:blipFill>
        <p:spPr>
          <a:xfrm>
            <a:off x="5203394" y="1123750"/>
            <a:ext cx="6150406" cy="4610499"/>
          </a:xfrm>
          <a:prstGeom prst="rect">
            <a:avLst/>
          </a:prstGeom>
        </p:spPr>
      </p:pic>
    </p:spTree>
    <p:extLst>
      <p:ext uri="{BB962C8B-B14F-4D97-AF65-F5344CB8AC3E}">
        <p14:creationId xmlns:p14="http://schemas.microsoft.com/office/powerpoint/2010/main" val="39570230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EC738-2DF5-96E6-FD2B-0453CEED2162}"/>
              </a:ext>
            </a:extLst>
          </p:cNvPr>
          <p:cNvSpPr>
            <a:spLocks noGrp="1"/>
          </p:cNvSpPr>
          <p:nvPr>
            <p:ph type="title"/>
          </p:nvPr>
        </p:nvSpPr>
        <p:spPr>
          <a:xfrm>
            <a:off x="838200" y="2299063"/>
            <a:ext cx="4389120" cy="2259874"/>
          </a:xfrm>
        </p:spPr>
        <p:txBody>
          <a:bodyPr>
            <a:normAutofit/>
          </a:bodyPr>
          <a:lstStyle/>
          <a:p>
            <a:r>
              <a:rPr lang="en-US" sz="2400" b="1" dirty="0">
                <a:solidFill>
                  <a:srgbClr val="B88AA6"/>
                </a:solidFill>
              </a:rPr>
              <a:t>Saturday Is Most Active, Sunday Is Most Sedentary</a:t>
            </a:r>
            <a:br>
              <a:rPr lang="en-US" sz="2000" dirty="0"/>
            </a:br>
            <a:br>
              <a:rPr lang="en-US" sz="2000" dirty="0"/>
            </a:br>
            <a:r>
              <a:rPr lang="en-US" sz="2000" b="1" dirty="0">
                <a:solidFill>
                  <a:srgbClr val="00B050"/>
                </a:solidFill>
              </a:rPr>
              <a:t>Saturday</a:t>
            </a:r>
            <a:r>
              <a:rPr lang="en-US" sz="2000" dirty="0">
                <a:solidFill>
                  <a:schemeClr val="tx1">
                    <a:lumMod val="50000"/>
                    <a:lumOff val="50000"/>
                  </a:schemeClr>
                </a:solidFill>
              </a:rPr>
              <a:t> </a:t>
            </a:r>
            <a:r>
              <a:rPr lang="en-US" sz="2000" dirty="0">
                <a:solidFill>
                  <a:schemeClr val="tx1">
                    <a:lumMod val="65000"/>
                    <a:lumOff val="35000"/>
                  </a:schemeClr>
                </a:solidFill>
              </a:rPr>
              <a:t>averages</a:t>
            </a:r>
            <a:r>
              <a:rPr lang="en-US" sz="2000" dirty="0">
                <a:solidFill>
                  <a:schemeClr val="tx1">
                    <a:lumMod val="50000"/>
                    <a:lumOff val="50000"/>
                  </a:schemeClr>
                </a:solidFill>
              </a:rPr>
              <a:t> </a:t>
            </a:r>
            <a:r>
              <a:rPr lang="en-US" sz="2000" b="1" dirty="0">
                <a:solidFill>
                  <a:srgbClr val="00B050"/>
                </a:solidFill>
              </a:rPr>
              <a:t>7,831</a:t>
            </a:r>
            <a:r>
              <a:rPr lang="en-US" sz="2000" b="1" dirty="0">
                <a:solidFill>
                  <a:schemeClr val="tx1">
                    <a:lumMod val="50000"/>
                    <a:lumOff val="50000"/>
                  </a:schemeClr>
                </a:solidFill>
              </a:rPr>
              <a:t> </a:t>
            </a:r>
            <a:r>
              <a:rPr lang="en-US" sz="2000" dirty="0">
                <a:solidFill>
                  <a:schemeClr val="tx1">
                    <a:lumMod val="65000"/>
                    <a:lumOff val="35000"/>
                  </a:schemeClr>
                </a:solidFill>
              </a:rPr>
              <a:t>steps</a:t>
            </a:r>
            <a:r>
              <a:rPr lang="en-US" sz="2000" dirty="0">
                <a:solidFill>
                  <a:schemeClr val="tx1">
                    <a:lumMod val="50000"/>
                    <a:lumOff val="50000"/>
                  </a:schemeClr>
                </a:solidFill>
              </a:rPr>
              <a:t> </a:t>
            </a:r>
            <a:br>
              <a:rPr lang="en-US" sz="2000" dirty="0">
                <a:solidFill>
                  <a:schemeClr val="tx1">
                    <a:lumMod val="50000"/>
                    <a:lumOff val="50000"/>
                  </a:schemeClr>
                </a:solidFill>
              </a:rPr>
            </a:br>
            <a:r>
              <a:rPr lang="en-US" sz="2000" b="1" dirty="0">
                <a:solidFill>
                  <a:srgbClr val="FF0000"/>
                </a:solidFill>
              </a:rPr>
              <a:t>Sunday</a:t>
            </a:r>
            <a:r>
              <a:rPr lang="en-US" sz="2000" dirty="0">
                <a:solidFill>
                  <a:schemeClr val="tx1">
                    <a:lumMod val="50000"/>
                    <a:lumOff val="50000"/>
                  </a:schemeClr>
                </a:solidFill>
              </a:rPr>
              <a:t> </a:t>
            </a:r>
            <a:r>
              <a:rPr lang="en-US" sz="2000" dirty="0">
                <a:solidFill>
                  <a:schemeClr val="tx1">
                    <a:lumMod val="65000"/>
                    <a:lumOff val="35000"/>
                  </a:schemeClr>
                </a:solidFill>
              </a:rPr>
              <a:t>averages</a:t>
            </a:r>
            <a:r>
              <a:rPr lang="en-US" sz="2000" dirty="0">
                <a:solidFill>
                  <a:schemeClr val="tx1">
                    <a:lumMod val="50000"/>
                    <a:lumOff val="50000"/>
                  </a:schemeClr>
                </a:solidFill>
              </a:rPr>
              <a:t> </a:t>
            </a:r>
            <a:r>
              <a:rPr lang="en-US" sz="2000" b="1" dirty="0">
                <a:solidFill>
                  <a:srgbClr val="FF0000"/>
                </a:solidFill>
              </a:rPr>
              <a:t>6,641</a:t>
            </a:r>
            <a:r>
              <a:rPr lang="en-US" sz="2000" dirty="0">
                <a:solidFill>
                  <a:schemeClr val="tx1">
                    <a:lumMod val="50000"/>
                    <a:lumOff val="50000"/>
                  </a:schemeClr>
                </a:solidFill>
              </a:rPr>
              <a:t> </a:t>
            </a:r>
            <a:r>
              <a:rPr lang="en-US" sz="2000" dirty="0">
                <a:solidFill>
                  <a:schemeClr val="tx1">
                    <a:lumMod val="65000"/>
                    <a:lumOff val="35000"/>
                  </a:schemeClr>
                </a:solidFill>
              </a:rPr>
              <a:t>steps</a:t>
            </a:r>
            <a:r>
              <a:rPr lang="en-US" sz="2000" dirty="0">
                <a:solidFill>
                  <a:schemeClr val="tx1">
                    <a:lumMod val="50000"/>
                    <a:lumOff val="50000"/>
                  </a:schemeClr>
                </a:solidFill>
              </a:rPr>
              <a:t> </a:t>
            </a:r>
            <a:br>
              <a:rPr lang="en-US" sz="2000" dirty="0">
                <a:solidFill>
                  <a:schemeClr val="tx1">
                    <a:lumMod val="50000"/>
                    <a:lumOff val="50000"/>
                  </a:schemeClr>
                </a:solidFill>
              </a:rPr>
            </a:br>
            <a:r>
              <a:rPr lang="en-US" sz="2000" dirty="0">
                <a:solidFill>
                  <a:schemeClr val="tx1">
                    <a:lumMod val="65000"/>
                    <a:lumOff val="35000"/>
                  </a:schemeClr>
                </a:solidFill>
              </a:rPr>
              <a:t>Difference of nearly </a:t>
            </a:r>
            <a:r>
              <a:rPr lang="en-US" sz="2000" b="1" dirty="0">
                <a:solidFill>
                  <a:schemeClr val="tx1">
                    <a:lumMod val="65000"/>
                    <a:lumOff val="35000"/>
                  </a:schemeClr>
                </a:solidFill>
              </a:rPr>
              <a:t>1,200 steps</a:t>
            </a:r>
            <a:r>
              <a:rPr lang="en-US" sz="2000" dirty="0">
                <a:solidFill>
                  <a:schemeClr val="tx1">
                    <a:lumMod val="65000"/>
                    <a:lumOff val="35000"/>
                  </a:schemeClr>
                </a:solidFill>
              </a:rPr>
              <a:t> between best and worst day</a:t>
            </a:r>
          </a:p>
        </p:txBody>
      </p:sp>
      <p:pic>
        <p:nvPicPr>
          <p:cNvPr id="5" name="Content Placeholder 4">
            <a:extLst>
              <a:ext uri="{FF2B5EF4-FFF2-40B4-BE49-F238E27FC236}">
                <a16:creationId xmlns:a16="http://schemas.microsoft.com/office/drawing/2014/main" id="{C6995E7C-70F5-5866-59B8-49F1F00D0047}"/>
              </a:ext>
            </a:extLst>
          </p:cNvPr>
          <p:cNvPicPr>
            <a:picLocks noGrp="1" noChangeAspect="1"/>
          </p:cNvPicPr>
          <p:nvPr>
            <p:ph idx="1"/>
          </p:nvPr>
        </p:nvPicPr>
        <p:blipFill>
          <a:blip r:embed="rId3"/>
          <a:stretch>
            <a:fillRect/>
          </a:stretch>
        </p:blipFill>
        <p:spPr>
          <a:xfrm>
            <a:off x="6479175" y="1323003"/>
            <a:ext cx="4775038" cy="4351338"/>
          </a:xfrm>
          <a:prstGeom prst="rect">
            <a:avLst/>
          </a:prstGeom>
        </p:spPr>
      </p:pic>
    </p:spTree>
    <p:extLst>
      <p:ext uri="{BB962C8B-B14F-4D97-AF65-F5344CB8AC3E}">
        <p14:creationId xmlns:p14="http://schemas.microsoft.com/office/powerpoint/2010/main" val="42548946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435B6-5952-90D1-215C-BE02E2C68B43}"/>
              </a:ext>
            </a:extLst>
          </p:cNvPr>
          <p:cNvSpPr>
            <a:spLocks noGrp="1"/>
          </p:cNvSpPr>
          <p:nvPr>
            <p:ph type="title"/>
          </p:nvPr>
        </p:nvSpPr>
        <p:spPr>
          <a:xfrm>
            <a:off x="1345480" y="2483031"/>
            <a:ext cx="7132320" cy="1891937"/>
          </a:xfrm>
        </p:spPr>
        <p:txBody>
          <a:bodyPr>
            <a:noAutofit/>
          </a:bodyPr>
          <a:lstStyle/>
          <a:p>
            <a:r>
              <a:rPr lang="en-US" sz="2400" b="1" dirty="0">
                <a:solidFill>
                  <a:srgbClr val="B88AA6"/>
                </a:solidFill>
              </a:rPr>
              <a:t>Sitting More Is Linked To Sleeping Less</a:t>
            </a:r>
            <a:br>
              <a:rPr lang="en-US" sz="2400" dirty="0"/>
            </a:br>
            <a:br>
              <a:rPr lang="en-US" sz="2400" dirty="0"/>
            </a:br>
            <a:r>
              <a:rPr lang="en-US" sz="2000" dirty="0">
                <a:solidFill>
                  <a:schemeClr val="tx1">
                    <a:lumMod val="65000"/>
                    <a:lumOff val="35000"/>
                  </a:schemeClr>
                </a:solidFill>
              </a:rPr>
              <a:t>Sedentary minutes vs sleep correlation: </a:t>
            </a:r>
            <a:r>
              <a:rPr lang="en-US" sz="2000" b="1" dirty="0">
                <a:solidFill>
                  <a:srgbClr val="FF0000"/>
                </a:solidFill>
              </a:rPr>
              <a:t>-0.59</a:t>
            </a:r>
            <a:br>
              <a:rPr lang="en-US" sz="2000" b="1" dirty="0">
                <a:solidFill>
                  <a:schemeClr val="tx1">
                    <a:lumMod val="50000"/>
                    <a:lumOff val="50000"/>
                  </a:schemeClr>
                </a:solidFill>
              </a:rPr>
            </a:br>
            <a:r>
              <a:rPr lang="en-US" sz="2000" dirty="0">
                <a:solidFill>
                  <a:schemeClr val="tx1">
                    <a:lumMod val="65000"/>
                    <a:lumOff val="35000"/>
                  </a:schemeClr>
                </a:solidFill>
              </a:rPr>
              <a:t>It's not about how much you exercise, it's about how much you sit. Reducing sedentary time shows a stronger link to better sleep than increasing step count alone</a:t>
            </a:r>
            <a:endParaRPr lang="en-US" sz="2400" dirty="0">
              <a:solidFill>
                <a:schemeClr val="tx1">
                  <a:lumMod val="65000"/>
                  <a:lumOff val="35000"/>
                </a:schemeClr>
              </a:solidFill>
            </a:endParaRPr>
          </a:p>
        </p:txBody>
      </p:sp>
    </p:spTree>
    <p:extLst>
      <p:ext uri="{BB962C8B-B14F-4D97-AF65-F5344CB8AC3E}">
        <p14:creationId xmlns:p14="http://schemas.microsoft.com/office/powerpoint/2010/main" val="749175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D0D1F-F480-2028-ACB2-E3C9C9527610}"/>
              </a:ext>
            </a:extLst>
          </p:cNvPr>
          <p:cNvSpPr>
            <a:spLocks noGrp="1"/>
          </p:cNvSpPr>
          <p:nvPr>
            <p:ph type="title"/>
          </p:nvPr>
        </p:nvSpPr>
        <p:spPr>
          <a:xfrm>
            <a:off x="838200" y="2156256"/>
            <a:ext cx="4114800" cy="2545488"/>
          </a:xfrm>
        </p:spPr>
        <p:txBody>
          <a:bodyPr>
            <a:normAutofit/>
          </a:bodyPr>
          <a:lstStyle/>
          <a:p>
            <a:r>
              <a:rPr lang="en-US" sz="2400" b="1" dirty="0">
                <a:solidFill>
                  <a:srgbClr val="B88AA6"/>
                </a:solidFill>
              </a:rPr>
              <a:t>Users Struggle With Sleep Quality</a:t>
            </a:r>
            <a:br>
              <a:rPr lang="en-US" sz="1400" dirty="0"/>
            </a:br>
            <a:br>
              <a:rPr lang="en-US" sz="1400" dirty="0"/>
            </a:br>
            <a:r>
              <a:rPr lang="en-US" sz="2000" dirty="0">
                <a:solidFill>
                  <a:schemeClr val="tx1">
                    <a:lumMod val="65000"/>
                    <a:lumOff val="35000"/>
                  </a:schemeClr>
                </a:solidFill>
              </a:rPr>
              <a:t>Average sleep: </a:t>
            </a:r>
            <a:r>
              <a:rPr lang="en-US" sz="2000" b="1" dirty="0">
                <a:solidFill>
                  <a:schemeClr val="tx1">
                    <a:lumMod val="65000"/>
                    <a:lumOff val="35000"/>
                  </a:schemeClr>
                </a:solidFill>
              </a:rPr>
              <a:t>6.99 hours,</a:t>
            </a:r>
            <a:r>
              <a:rPr lang="en-US" sz="2000" dirty="0">
                <a:solidFill>
                  <a:schemeClr val="tx1">
                    <a:lumMod val="65000"/>
                    <a:lumOff val="35000"/>
                  </a:schemeClr>
                </a:solidFill>
              </a:rPr>
              <a:t> barely meeting 7 hour minimum</a:t>
            </a:r>
            <a:br>
              <a:rPr lang="en-US" sz="2000" dirty="0">
                <a:solidFill>
                  <a:schemeClr val="tx1">
                    <a:lumMod val="65000"/>
                    <a:lumOff val="35000"/>
                  </a:schemeClr>
                </a:solidFill>
              </a:rPr>
            </a:br>
            <a:r>
              <a:rPr lang="en-US" sz="2000" dirty="0">
                <a:solidFill>
                  <a:schemeClr val="tx1">
                    <a:lumMod val="65000"/>
                    <a:lumOff val="35000"/>
                  </a:schemeClr>
                </a:solidFill>
              </a:rPr>
              <a:t>Users are not only sleeping too little but spending significant time lying awake</a:t>
            </a:r>
          </a:p>
        </p:txBody>
      </p:sp>
      <p:pic>
        <p:nvPicPr>
          <p:cNvPr id="5" name="Content Placeholder 4">
            <a:extLst>
              <a:ext uri="{FF2B5EF4-FFF2-40B4-BE49-F238E27FC236}">
                <a16:creationId xmlns:a16="http://schemas.microsoft.com/office/drawing/2014/main" id="{05F587C6-F9D1-BF39-311A-FA8E8C8810FE}"/>
              </a:ext>
            </a:extLst>
          </p:cNvPr>
          <p:cNvPicPr>
            <a:picLocks noGrp="1" noChangeAspect="1"/>
          </p:cNvPicPr>
          <p:nvPr>
            <p:ph idx="1"/>
          </p:nvPr>
        </p:nvPicPr>
        <p:blipFill>
          <a:blip r:embed="rId3"/>
          <a:stretch>
            <a:fillRect/>
          </a:stretch>
        </p:blipFill>
        <p:spPr>
          <a:xfrm>
            <a:off x="5364478" y="392534"/>
            <a:ext cx="6470376" cy="6193733"/>
          </a:xfrm>
          <a:prstGeom prst="rect">
            <a:avLst/>
          </a:prstGeom>
        </p:spPr>
      </p:pic>
    </p:spTree>
    <p:extLst>
      <p:ext uri="{BB962C8B-B14F-4D97-AF65-F5344CB8AC3E}">
        <p14:creationId xmlns:p14="http://schemas.microsoft.com/office/powerpoint/2010/main" val="38019662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B5F38-2992-5D01-40BC-34FB305BCC5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136CBA-CEBE-5A17-4139-2A67492E640C}"/>
              </a:ext>
            </a:extLst>
          </p:cNvPr>
          <p:cNvSpPr>
            <a:spLocks noGrp="1"/>
          </p:cNvSpPr>
          <p:nvPr>
            <p:ph idx="1"/>
          </p:nvPr>
        </p:nvSpPr>
        <p:spPr>
          <a:xfrm>
            <a:off x="4376057" y="2514600"/>
            <a:ext cx="6675120" cy="1569720"/>
          </a:xfrm>
        </p:spPr>
        <p:txBody>
          <a:bodyPr>
            <a:normAutofit/>
          </a:bodyPr>
          <a:lstStyle/>
          <a:p>
            <a:pPr marL="457200" indent="-457200">
              <a:lnSpc>
                <a:spcPct val="100000"/>
              </a:lnSpc>
              <a:buAutoNum type="arabicPeriod"/>
            </a:pPr>
            <a:r>
              <a:rPr lang="en-US" sz="2200" dirty="0">
                <a:solidFill>
                  <a:schemeClr val="bg2">
                    <a:lumMod val="90000"/>
                  </a:schemeClr>
                </a:solidFill>
              </a:rPr>
              <a:t>What are some trends in smart device usage?</a:t>
            </a:r>
            <a:r>
              <a:rPr lang="en-US" sz="2200" dirty="0">
                <a:solidFill>
                  <a:schemeClr val="tx1">
                    <a:lumMod val="50000"/>
                    <a:lumOff val="50000"/>
                  </a:schemeClr>
                </a:solidFill>
              </a:rPr>
              <a:t> </a:t>
            </a:r>
          </a:p>
          <a:p>
            <a:pPr marL="457200" indent="-457200">
              <a:lnSpc>
                <a:spcPct val="100000"/>
              </a:lnSpc>
              <a:buAutoNum type="arabicPeriod"/>
            </a:pPr>
            <a:r>
              <a:rPr lang="en-US" sz="2200" dirty="0">
                <a:solidFill>
                  <a:schemeClr val="tx1">
                    <a:lumMod val="65000"/>
                    <a:lumOff val="35000"/>
                  </a:schemeClr>
                </a:solidFill>
              </a:rPr>
              <a:t>How could these trends apply to Bellabeat customers and help influence Bellabeat’s marketing strategy? </a:t>
            </a:r>
          </a:p>
        </p:txBody>
      </p:sp>
      <p:sp>
        <p:nvSpPr>
          <p:cNvPr id="5" name="Content Placeholder 2">
            <a:extLst>
              <a:ext uri="{FF2B5EF4-FFF2-40B4-BE49-F238E27FC236}">
                <a16:creationId xmlns:a16="http://schemas.microsoft.com/office/drawing/2014/main" id="{A34B0E05-6F6E-993A-A2A5-CB2F26096270}"/>
              </a:ext>
            </a:extLst>
          </p:cNvPr>
          <p:cNvSpPr txBox="1">
            <a:spLocks/>
          </p:cNvSpPr>
          <p:nvPr/>
        </p:nvSpPr>
        <p:spPr>
          <a:xfrm>
            <a:off x="1345480" y="2514599"/>
            <a:ext cx="2268583" cy="156971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solidFill>
                  <a:srgbClr val="B88AA6"/>
                </a:solidFill>
              </a:rPr>
              <a:t>Questions:</a:t>
            </a:r>
          </a:p>
        </p:txBody>
      </p:sp>
    </p:spTree>
    <p:extLst>
      <p:ext uri="{BB962C8B-B14F-4D97-AF65-F5344CB8AC3E}">
        <p14:creationId xmlns:p14="http://schemas.microsoft.com/office/powerpoint/2010/main" val="10212382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1F07F-058D-59F2-481D-FA89F70D7E99}"/>
              </a:ext>
            </a:extLst>
          </p:cNvPr>
          <p:cNvSpPr>
            <a:spLocks noGrp="1"/>
          </p:cNvSpPr>
          <p:nvPr>
            <p:ph type="title"/>
          </p:nvPr>
        </p:nvSpPr>
        <p:spPr>
          <a:xfrm>
            <a:off x="838201" y="365125"/>
            <a:ext cx="5257800" cy="1080498"/>
          </a:xfrm>
        </p:spPr>
        <p:txBody>
          <a:bodyPr>
            <a:normAutofit/>
          </a:bodyPr>
          <a:lstStyle/>
          <a:p>
            <a:r>
              <a:rPr lang="en-US" sz="2400" b="1" dirty="0">
                <a:solidFill>
                  <a:srgbClr val="B88AA6"/>
                </a:solidFill>
              </a:rPr>
              <a:t>Improve Device Design Appeal To Drive Consistent Wear</a:t>
            </a:r>
          </a:p>
        </p:txBody>
      </p:sp>
      <p:sp>
        <p:nvSpPr>
          <p:cNvPr id="3" name="Content Placeholder 2">
            <a:extLst>
              <a:ext uri="{FF2B5EF4-FFF2-40B4-BE49-F238E27FC236}">
                <a16:creationId xmlns:a16="http://schemas.microsoft.com/office/drawing/2014/main" id="{BBE1646A-6CE9-295F-C797-78DB1F2AA54B}"/>
              </a:ext>
            </a:extLst>
          </p:cNvPr>
          <p:cNvSpPr>
            <a:spLocks noGrp="1"/>
          </p:cNvSpPr>
          <p:nvPr>
            <p:ph idx="1"/>
          </p:nvPr>
        </p:nvSpPr>
        <p:spPr>
          <a:xfrm>
            <a:off x="5199016" y="1751020"/>
            <a:ext cx="5878287" cy="3686901"/>
          </a:xfrm>
        </p:spPr>
        <p:txBody>
          <a:bodyPr>
            <a:normAutofit lnSpcReduction="10000"/>
          </a:bodyPr>
          <a:lstStyle/>
          <a:p>
            <a:pPr marL="0" indent="0">
              <a:buNone/>
            </a:pPr>
            <a:r>
              <a:rPr lang="en-US" sz="1800" b="1" dirty="0">
                <a:solidFill>
                  <a:schemeClr val="tx1">
                    <a:lumMod val="65000"/>
                    <a:lumOff val="35000"/>
                  </a:schemeClr>
                </a:solidFill>
              </a:rPr>
              <a:t>Recommendation: </a:t>
            </a:r>
          </a:p>
          <a:p>
            <a:pPr marL="0" indent="0">
              <a:buNone/>
            </a:pPr>
            <a:endParaRPr lang="en-US" sz="1800" b="1" dirty="0">
              <a:solidFill>
                <a:schemeClr val="tx1">
                  <a:lumMod val="65000"/>
                  <a:lumOff val="35000"/>
                </a:schemeClr>
              </a:solidFill>
            </a:endParaRPr>
          </a:p>
          <a:p>
            <a:pPr marL="0" indent="0">
              <a:buNone/>
            </a:pPr>
            <a:r>
              <a:rPr lang="en-US" sz="1800" dirty="0">
                <a:solidFill>
                  <a:schemeClr val="tx1">
                    <a:lumMod val="65000"/>
                    <a:lumOff val="35000"/>
                  </a:schemeClr>
                </a:solidFill>
              </a:rPr>
              <a:t>Bellabeat should invest in discreet, aesthetically pleasing device designs that blend naturally into everyday outfits.</a:t>
            </a:r>
          </a:p>
          <a:p>
            <a:pPr marL="0" indent="0">
              <a:buNone/>
            </a:pPr>
            <a:r>
              <a:rPr lang="en-US" sz="1800" dirty="0">
                <a:solidFill>
                  <a:schemeClr val="tx1">
                    <a:lumMod val="65000"/>
                    <a:lumOff val="35000"/>
                  </a:schemeClr>
                </a:solidFill>
              </a:rPr>
              <a:t>Highlight the </a:t>
            </a:r>
            <a:r>
              <a:rPr lang="en-US" sz="1800" b="1" dirty="0">
                <a:solidFill>
                  <a:schemeClr val="tx1">
                    <a:lumMod val="65000"/>
                    <a:lumOff val="35000"/>
                  </a:schemeClr>
                </a:solidFill>
              </a:rPr>
              <a:t>Leaf's</a:t>
            </a:r>
            <a:r>
              <a:rPr lang="en-US" sz="1800" dirty="0">
                <a:solidFill>
                  <a:schemeClr val="tx1">
                    <a:lumMod val="65000"/>
                    <a:lumOff val="35000"/>
                  </a:schemeClr>
                </a:solidFill>
              </a:rPr>
              <a:t> versatile wearability in marketing.</a:t>
            </a:r>
          </a:p>
          <a:p>
            <a:pPr marL="0" indent="0">
              <a:buNone/>
            </a:pPr>
            <a:r>
              <a:rPr lang="en-US" sz="1800" dirty="0">
                <a:solidFill>
                  <a:schemeClr val="tx1">
                    <a:lumMod val="65000"/>
                    <a:lumOff val="35000"/>
                  </a:schemeClr>
                </a:solidFill>
              </a:rPr>
              <a:t>Show real people wearing devices in everyday non-workout settings.</a:t>
            </a:r>
          </a:p>
          <a:p>
            <a:pPr marL="0" indent="0">
              <a:buNone/>
            </a:pPr>
            <a:r>
              <a:rPr lang="en-US" sz="1800" dirty="0">
                <a:solidFill>
                  <a:schemeClr val="tx1">
                    <a:lumMod val="65000"/>
                    <a:lumOff val="35000"/>
                  </a:schemeClr>
                </a:solidFill>
              </a:rPr>
              <a:t>Implement gentle app reminders encouraging consistent daily wear.</a:t>
            </a:r>
          </a:p>
          <a:p>
            <a:pPr marL="0" indent="0">
              <a:buNone/>
            </a:pPr>
            <a:endParaRPr lang="en-US" sz="1800" dirty="0">
              <a:solidFill>
                <a:schemeClr val="tx1">
                  <a:lumMod val="50000"/>
                  <a:lumOff val="50000"/>
                </a:schemeClr>
              </a:solidFill>
            </a:endParaRPr>
          </a:p>
          <a:p>
            <a:pPr marL="0" indent="0">
              <a:buNone/>
            </a:pPr>
            <a:r>
              <a:rPr lang="en-US" sz="1800" b="1" dirty="0">
                <a:solidFill>
                  <a:schemeClr val="tx1">
                    <a:lumMod val="65000"/>
                    <a:lumOff val="35000"/>
                  </a:schemeClr>
                </a:solidFill>
              </a:rPr>
              <a:t>A tracker only works when it's worn, and design should make wearing it effortless.</a:t>
            </a:r>
          </a:p>
        </p:txBody>
      </p:sp>
      <p:sp>
        <p:nvSpPr>
          <p:cNvPr id="4" name="TextBox 3">
            <a:extLst>
              <a:ext uri="{FF2B5EF4-FFF2-40B4-BE49-F238E27FC236}">
                <a16:creationId xmlns:a16="http://schemas.microsoft.com/office/drawing/2014/main" id="{F0E09B5F-DA76-E28D-E4B2-6381047B3599}"/>
              </a:ext>
            </a:extLst>
          </p:cNvPr>
          <p:cNvSpPr txBox="1"/>
          <p:nvPr/>
        </p:nvSpPr>
        <p:spPr>
          <a:xfrm>
            <a:off x="838200" y="1751020"/>
            <a:ext cx="3187337" cy="1754326"/>
          </a:xfrm>
          <a:prstGeom prst="rect">
            <a:avLst/>
          </a:prstGeom>
          <a:noFill/>
        </p:spPr>
        <p:txBody>
          <a:bodyPr wrap="square" rtlCol="0">
            <a:spAutoFit/>
          </a:bodyPr>
          <a:lstStyle/>
          <a:p>
            <a:r>
              <a:rPr lang="en-US" b="1" dirty="0">
                <a:solidFill>
                  <a:schemeClr val="tx1">
                    <a:lumMod val="65000"/>
                    <a:lumOff val="35000"/>
                  </a:schemeClr>
                </a:solidFill>
              </a:rPr>
              <a:t>Finding:</a:t>
            </a:r>
          </a:p>
          <a:p>
            <a:endParaRPr lang="en-US" dirty="0">
              <a:solidFill>
                <a:schemeClr val="tx1">
                  <a:lumMod val="50000"/>
                  <a:lumOff val="50000"/>
                </a:schemeClr>
              </a:solidFill>
            </a:endParaRPr>
          </a:p>
          <a:p>
            <a:r>
              <a:rPr lang="en-US" dirty="0">
                <a:solidFill>
                  <a:schemeClr val="tx1">
                    <a:lumMod val="65000"/>
                    <a:lumOff val="35000"/>
                  </a:schemeClr>
                </a:solidFill>
              </a:rPr>
              <a:t>Only 49% of users wear their device consistently suggesting comfort, style, or motivation barriers</a:t>
            </a:r>
          </a:p>
        </p:txBody>
      </p:sp>
    </p:spTree>
    <p:extLst>
      <p:ext uri="{BB962C8B-B14F-4D97-AF65-F5344CB8AC3E}">
        <p14:creationId xmlns:p14="http://schemas.microsoft.com/office/powerpoint/2010/main" val="25457716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04F3B-E44A-E2F0-C9D9-B4B7500B78AD}"/>
              </a:ext>
            </a:extLst>
          </p:cNvPr>
          <p:cNvSpPr>
            <a:spLocks noGrp="1"/>
          </p:cNvSpPr>
          <p:nvPr>
            <p:ph type="title"/>
          </p:nvPr>
        </p:nvSpPr>
        <p:spPr>
          <a:xfrm>
            <a:off x="838199" y="365125"/>
            <a:ext cx="5212080" cy="1325563"/>
          </a:xfrm>
        </p:spPr>
        <p:txBody>
          <a:bodyPr>
            <a:normAutofit/>
          </a:bodyPr>
          <a:lstStyle/>
          <a:p>
            <a:r>
              <a:rPr lang="en-US" sz="2400" b="1" dirty="0">
                <a:solidFill>
                  <a:srgbClr val="B88AA6"/>
                </a:solidFill>
              </a:rPr>
              <a:t>Help Users Sit Less To Sleep Better</a:t>
            </a:r>
          </a:p>
        </p:txBody>
      </p:sp>
      <p:sp>
        <p:nvSpPr>
          <p:cNvPr id="3" name="Content Placeholder 2">
            <a:extLst>
              <a:ext uri="{FF2B5EF4-FFF2-40B4-BE49-F238E27FC236}">
                <a16:creationId xmlns:a16="http://schemas.microsoft.com/office/drawing/2014/main" id="{3F9A9405-AC3F-7E4F-2E4A-4CC54A3805D7}"/>
              </a:ext>
            </a:extLst>
          </p:cNvPr>
          <p:cNvSpPr>
            <a:spLocks noGrp="1"/>
          </p:cNvSpPr>
          <p:nvPr>
            <p:ph idx="1"/>
          </p:nvPr>
        </p:nvSpPr>
        <p:spPr>
          <a:xfrm>
            <a:off x="5199015" y="1727838"/>
            <a:ext cx="5625739" cy="3469186"/>
          </a:xfrm>
        </p:spPr>
        <p:txBody>
          <a:bodyPr>
            <a:normAutofit/>
          </a:bodyPr>
          <a:lstStyle/>
          <a:p>
            <a:pPr marL="0" indent="0">
              <a:buNone/>
            </a:pPr>
            <a:r>
              <a:rPr lang="en-US" sz="1800" b="1" dirty="0">
                <a:solidFill>
                  <a:schemeClr val="tx1">
                    <a:lumMod val="65000"/>
                    <a:lumOff val="35000"/>
                  </a:schemeClr>
                </a:solidFill>
              </a:rPr>
              <a:t>Recommendation:</a:t>
            </a:r>
            <a:r>
              <a:rPr lang="en-US" sz="1800" dirty="0">
                <a:solidFill>
                  <a:schemeClr val="tx1">
                    <a:lumMod val="65000"/>
                    <a:lumOff val="35000"/>
                  </a:schemeClr>
                </a:solidFill>
              </a:rPr>
              <a:t> </a:t>
            </a:r>
          </a:p>
          <a:p>
            <a:pPr marL="0" indent="0">
              <a:buNone/>
            </a:pPr>
            <a:endParaRPr lang="en-US" sz="1800" dirty="0">
              <a:solidFill>
                <a:schemeClr val="tx1">
                  <a:lumMod val="65000"/>
                  <a:lumOff val="35000"/>
                </a:schemeClr>
              </a:solidFill>
            </a:endParaRPr>
          </a:p>
          <a:p>
            <a:pPr marL="0" indent="0">
              <a:buNone/>
            </a:pPr>
            <a:r>
              <a:rPr lang="en-US" sz="1800" dirty="0">
                <a:solidFill>
                  <a:schemeClr val="tx1">
                    <a:lumMod val="65000"/>
                    <a:lumOff val="35000"/>
                  </a:schemeClr>
                </a:solidFill>
              </a:rPr>
              <a:t>Bellabeat should create targeted in-app messaging specifically connecting prolonged sitting to poor sleep quality.</a:t>
            </a:r>
          </a:p>
          <a:p>
            <a:pPr marL="0" indent="0">
              <a:buNone/>
            </a:pPr>
            <a:r>
              <a:rPr lang="en-US" sz="1800" i="1" dirty="0">
                <a:solidFill>
                  <a:srgbClr val="B88AA6"/>
                </a:solidFill>
              </a:rPr>
              <a:t>"</a:t>
            </a:r>
            <a:r>
              <a:rPr lang="en-US" sz="1800" i="1" dirty="0">
                <a:solidFill>
                  <a:schemeClr val="tx1">
                    <a:lumMod val="65000"/>
                    <a:lumOff val="35000"/>
                  </a:schemeClr>
                </a:solidFill>
              </a:rPr>
              <a:t>You've been still for 2 hours — a short break could improve tonight's sleep</a:t>
            </a:r>
            <a:r>
              <a:rPr lang="en-US" sz="1800" i="1" dirty="0">
                <a:solidFill>
                  <a:srgbClr val="B88AA6"/>
                </a:solidFill>
              </a:rPr>
              <a:t>"</a:t>
            </a:r>
            <a:r>
              <a:rPr lang="en-US" sz="1800" dirty="0">
                <a:solidFill>
                  <a:schemeClr val="tx1">
                    <a:lumMod val="65000"/>
                    <a:lumOff val="35000"/>
                  </a:schemeClr>
                </a:solidFill>
              </a:rPr>
              <a:t> </a:t>
            </a:r>
          </a:p>
          <a:p>
            <a:pPr marL="0" indent="0">
              <a:buNone/>
            </a:pPr>
            <a:r>
              <a:rPr lang="en-US" sz="1800" dirty="0">
                <a:solidFill>
                  <a:schemeClr val="tx1">
                    <a:lumMod val="65000"/>
                    <a:lumOff val="35000"/>
                  </a:schemeClr>
                </a:solidFill>
              </a:rPr>
              <a:t>Create a </a:t>
            </a:r>
            <a:r>
              <a:rPr lang="en-US" sz="1800" b="1" dirty="0">
                <a:solidFill>
                  <a:schemeClr val="tx1">
                    <a:lumMod val="65000"/>
                    <a:lumOff val="35000"/>
                  </a:schemeClr>
                </a:solidFill>
              </a:rPr>
              <a:t>sedentary streak alert</a:t>
            </a:r>
            <a:r>
              <a:rPr lang="en-US" sz="1800" dirty="0">
                <a:solidFill>
                  <a:schemeClr val="tx1">
                    <a:lumMod val="65000"/>
                    <a:lumOff val="35000"/>
                  </a:schemeClr>
                </a:solidFill>
              </a:rPr>
              <a:t> feature in the app. </a:t>
            </a:r>
          </a:p>
          <a:p>
            <a:pPr marL="0" indent="0">
              <a:buNone/>
            </a:pPr>
            <a:r>
              <a:rPr lang="en-US" sz="1800" dirty="0">
                <a:solidFill>
                  <a:schemeClr val="tx1">
                    <a:lumMod val="65000"/>
                    <a:lumOff val="35000"/>
                  </a:schemeClr>
                </a:solidFill>
              </a:rPr>
              <a:t>Market the </a:t>
            </a:r>
            <a:r>
              <a:rPr lang="en-US" sz="1800" b="1" dirty="0">
                <a:solidFill>
                  <a:schemeClr val="tx1">
                    <a:lumMod val="65000"/>
                    <a:lumOff val="35000"/>
                  </a:schemeClr>
                </a:solidFill>
              </a:rPr>
              <a:t>Bellabeat Membership</a:t>
            </a:r>
            <a:r>
              <a:rPr lang="en-US" sz="1800" dirty="0">
                <a:solidFill>
                  <a:schemeClr val="tx1">
                    <a:lumMod val="65000"/>
                    <a:lumOff val="35000"/>
                  </a:schemeClr>
                </a:solidFill>
              </a:rPr>
              <a:t> program with sleep improvement content specifically targeting sedentary users.</a:t>
            </a:r>
          </a:p>
        </p:txBody>
      </p:sp>
      <p:sp>
        <p:nvSpPr>
          <p:cNvPr id="4" name="TextBox 3">
            <a:extLst>
              <a:ext uri="{FF2B5EF4-FFF2-40B4-BE49-F238E27FC236}">
                <a16:creationId xmlns:a16="http://schemas.microsoft.com/office/drawing/2014/main" id="{98834DF7-B91A-AFEB-691F-4E2F64D252B7}"/>
              </a:ext>
            </a:extLst>
          </p:cNvPr>
          <p:cNvSpPr txBox="1"/>
          <p:nvPr/>
        </p:nvSpPr>
        <p:spPr>
          <a:xfrm>
            <a:off x="838199" y="1746480"/>
            <a:ext cx="3187337" cy="1754326"/>
          </a:xfrm>
          <a:prstGeom prst="rect">
            <a:avLst/>
          </a:prstGeom>
          <a:noFill/>
        </p:spPr>
        <p:txBody>
          <a:bodyPr wrap="square" rtlCol="0">
            <a:spAutoFit/>
          </a:bodyPr>
          <a:lstStyle/>
          <a:p>
            <a:r>
              <a:rPr lang="en-US" b="1" dirty="0">
                <a:solidFill>
                  <a:schemeClr val="tx1">
                    <a:lumMod val="65000"/>
                    <a:lumOff val="35000"/>
                  </a:schemeClr>
                </a:solidFill>
              </a:rPr>
              <a:t>Finding:</a:t>
            </a:r>
            <a:r>
              <a:rPr lang="en-US" dirty="0">
                <a:solidFill>
                  <a:schemeClr val="tx1">
                    <a:lumMod val="65000"/>
                    <a:lumOff val="35000"/>
                  </a:schemeClr>
                </a:solidFill>
              </a:rPr>
              <a:t> </a:t>
            </a:r>
          </a:p>
          <a:p>
            <a:endParaRPr lang="en-US" dirty="0">
              <a:solidFill>
                <a:schemeClr val="tx1">
                  <a:lumMod val="65000"/>
                  <a:lumOff val="35000"/>
                </a:schemeClr>
              </a:solidFill>
            </a:endParaRPr>
          </a:p>
          <a:p>
            <a:r>
              <a:rPr lang="en-US" dirty="0">
                <a:solidFill>
                  <a:schemeClr val="tx1">
                    <a:lumMod val="65000"/>
                    <a:lumOff val="35000"/>
                  </a:schemeClr>
                </a:solidFill>
              </a:rPr>
              <a:t>Move more during the day, sleep better at night</a:t>
            </a:r>
          </a:p>
          <a:p>
            <a:endParaRPr lang="en-US" dirty="0">
              <a:solidFill>
                <a:schemeClr val="tx1">
                  <a:lumMod val="65000"/>
                  <a:lumOff val="35000"/>
                </a:schemeClr>
              </a:solidFill>
            </a:endParaRPr>
          </a:p>
          <a:p>
            <a:endParaRPr lang="en-US" dirty="0"/>
          </a:p>
        </p:txBody>
      </p:sp>
    </p:spTree>
    <p:extLst>
      <p:ext uri="{BB962C8B-B14F-4D97-AF65-F5344CB8AC3E}">
        <p14:creationId xmlns:p14="http://schemas.microsoft.com/office/powerpoint/2010/main" val="13688732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F98C9-DEDC-EB4B-3F75-5195095ACDE3}"/>
              </a:ext>
            </a:extLst>
          </p:cNvPr>
          <p:cNvSpPr>
            <a:spLocks noGrp="1"/>
          </p:cNvSpPr>
          <p:nvPr>
            <p:ph type="title"/>
          </p:nvPr>
        </p:nvSpPr>
        <p:spPr/>
        <p:txBody>
          <a:bodyPr>
            <a:normAutofit/>
          </a:bodyPr>
          <a:lstStyle/>
          <a:p>
            <a:r>
              <a:rPr lang="en-US" sz="2400" b="1" dirty="0">
                <a:solidFill>
                  <a:srgbClr val="B88AA6"/>
                </a:solidFill>
              </a:rPr>
              <a:t>Deliver The Right Message At The Right Time</a:t>
            </a:r>
          </a:p>
        </p:txBody>
      </p:sp>
      <p:sp>
        <p:nvSpPr>
          <p:cNvPr id="3" name="Content Placeholder 2">
            <a:extLst>
              <a:ext uri="{FF2B5EF4-FFF2-40B4-BE49-F238E27FC236}">
                <a16:creationId xmlns:a16="http://schemas.microsoft.com/office/drawing/2014/main" id="{B0079D0F-C5C3-08CF-330C-52DCCC61AC3E}"/>
              </a:ext>
            </a:extLst>
          </p:cNvPr>
          <p:cNvSpPr>
            <a:spLocks noGrp="1"/>
          </p:cNvSpPr>
          <p:nvPr>
            <p:ph idx="1"/>
          </p:nvPr>
        </p:nvSpPr>
        <p:spPr>
          <a:xfrm>
            <a:off x="5199015" y="1758229"/>
            <a:ext cx="6224451" cy="2352217"/>
          </a:xfrm>
        </p:spPr>
        <p:txBody>
          <a:bodyPr>
            <a:normAutofit/>
          </a:bodyPr>
          <a:lstStyle/>
          <a:p>
            <a:pPr marL="0" indent="0">
              <a:buNone/>
            </a:pPr>
            <a:r>
              <a:rPr lang="en-US" sz="1800" b="1" dirty="0">
                <a:solidFill>
                  <a:schemeClr val="tx1">
                    <a:lumMod val="65000"/>
                    <a:lumOff val="35000"/>
                  </a:schemeClr>
                </a:solidFill>
              </a:rPr>
              <a:t>Recommendation:</a:t>
            </a:r>
            <a:r>
              <a:rPr lang="en-US" sz="1800" dirty="0">
                <a:solidFill>
                  <a:schemeClr val="tx1">
                    <a:lumMod val="65000"/>
                    <a:lumOff val="35000"/>
                  </a:schemeClr>
                </a:solidFill>
              </a:rPr>
              <a:t> </a:t>
            </a:r>
          </a:p>
          <a:p>
            <a:pPr marL="0" indent="0">
              <a:buNone/>
            </a:pPr>
            <a:endParaRPr lang="en-US" sz="1800" dirty="0">
              <a:solidFill>
                <a:schemeClr val="tx1">
                  <a:lumMod val="65000"/>
                  <a:lumOff val="35000"/>
                </a:schemeClr>
              </a:solidFill>
            </a:endParaRPr>
          </a:p>
          <a:p>
            <a:pPr marL="0" indent="0">
              <a:buNone/>
            </a:pPr>
            <a:r>
              <a:rPr lang="en-US" sz="1800" dirty="0">
                <a:solidFill>
                  <a:schemeClr val="tx1">
                    <a:lumMod val="65000"/>
                    <a:lumOff val="35000"/>
                  </a:schemeClr>
                </a:solidFill>
              </a:rPr>
              <a:t>Bellabeat should implement </a:t>
            </a:r>
            <a:r>
              <a:rPr lang="en-US" sz="1800" b="1" dirty="0">
                <a:solidFill>
                  <a:schemeClr val="tx1">
                    <a:lumMod val="65000"/>
                    <a:lumOff val="35000"/>
                  </a:schemeClr>
                </a:solidFill>
              </a:rPr>
              <a:t>smart time-based notifications</a:t>
            </a:r>
            <a:r>
              <a:rPr lang="en-US" sz="1800" dirty="0">
                <a:solidFill>
                  <a:schemeClr val="tx1">
                    <a:lumMod val="65000"/>
                    <a:lumOff val="35000"/>
                  </a:schemeClr>
                </a:solidFill>
              </a:rPr>
              <a:t> that align with users' natural activity patterns.</a:t>
            </a:r>
          </a:p>
          <a:p>
            <a:pPr marL="0" indent="0">
              <a:buNone/>
            </a:pPr>
            <a:r>
              <a:rPr lang="en-US" sz="1800" dirty="0">
                <a:solidFill>
                  <a:schemeClr val="tx1">
                    <a:lumMod val="65000"/>
                    <a:lumOff val="35000"/>
                  </a:schemeClr>
                </a:solidFill>
              </a:rPr>
              <a:t>Send workout reminders at </a:t>
            </a:r>
            <a:r>
              <a:rPr lang="en-US" sz="1800" b="1" dirty="0">
                <a:solidFill>
                  <a:schemeClr val="tx1">
                    <a:lumMod val="65000"/>
                    <a:lumOff val="35000"/>
                  </a:schemeClr>
                </a:solidFill>
              </a:rPr>
              <a:t>5-6PM</a:t>
            </a:r>
            <a:r>
              <a:rPr lang="en-US" sz="1800" dirty="0">
                <a:solidFill>
                  <a:schemeClr val="tx1">
                    <a:lumMod val="65000"/>
                    <a:lumOff val="35000"/>
                  </a:schemeClr>
                </a:solidFill>
              </a:rPr>
              <a:t> on weekdays.</a:t>
            </a:r>
          </a:p>
          <a:p>
            <a:pPr marL="0" indent="0">
              <a:buNone/>
            </a:pPr>
            <a:r>
              <a:rPr lang="en-US" sz="1800" dirty="0">
                <a:solidFill>
                  <a:schemeClr val="tx1">
                    <a:lumMod val="65000"/>
                    <a:lumOff val="35000"/>
                  </a:schemeClr>
                </a:solidFill>
              </a:rPr>
              <a:t>Send weekly goal summaries and achievements on </a:t>
            </a:r>
            <a:r>
              <a:rPr lang="en-US" sz="1800" b="1" dirty="0">
                <a:solidFill>
                  <a:schemeClr val="tx1">
                    <a:lumMod val="65000"/>
                    <a:lumOff val="35000"/>
                  </a:schemeClr>
                </a:solidFill>
              </a:rPr>
              <a:t>Sunday evenings</a:t>
            </a:r>
            <a:r>
              <a:rPr lang="en-US" sz="1800" dirty="0">
                <a:solidFill>
                  <a:schemeClr val="tx1">
                    <a:lumMod val="65000"/>
                    <a:lumOff val="35000"/>
                  </a:schemeClr>
                </a:solidFill>
              </a:rPr>
              <a:t> to motivate Monday starts. </a:t>
            </a:r>
          </a:p>
        </p:txBody>
      </p:sp>
      <p:sp>
        <p:nvSpPr>
          <p:cNvPr id="4" name="TextBox 3">
            <a:extLst>
              <a:ext uri="{FF2B5EF4-FFF2-40B4-BE49-F238E27FC236}">
                <a16:creationId xmlns:a16="http://schemas.microsoft.com/office/drawing/2014/main" id="{206FAA93-52C3-D7FF-BA98-AEA636FF5492}"/>
              </a:ext>
            </a:extLst>
          </p:cNvPr>
          <p:cNvSpPr txBox="1"/>
          <p:nvPr/>
        </p:nvSpPr>
        <p:spPr>
          <a:xfrm>
            <a:off x="838200" y="1754326"/>
            <a:ext cx="3187336" cy="1477328"/>
          </a:xfrm>
          <a:prstGeom prst="rect">
            <a:avLst/>
          </a:prstGeom>
          <a:noFill/>
        </p:spPr>
        <p:txBody>
          <a:bodyPr wrap="square" rtlCol="0">
            <a:spAutoFit/>
          </a:bodyPr>
          <a:lstStyle/>
          <a:p>
            <a:r>
              <a:rPr lang="en-US" b="1" dirty="0">
                <a:solidFill>
                  <a:schemeClr val="tx1">
                    <a:lumMod val="65000"/>
                    <a:lumOff val="35000"/>
                  </a:schemeClr>
                </a:solidFill>
              </a:rPr>
              <a:t>Finding: </a:t>
            </a:r>
          </a:p>
          <a:p>
            <a:endParaRPr lang="en-US" dirty="0">
              <a:solidFill>
                <a:schemeClr val="tx1">
                  <a:lumMod val="65000"/>
                  <a:lumOff val="35000"/>
                </a:schemeClr>
              </a:solidFill>
            </a:endParaRPr>
          </a:p>
          <a:p>
            <a:r>
              <a:rPr lang="en-US" dirty="0">
                <a:solidFill>
                  <a:schemeClr val="tx1">
                    <a:lumMod val="65000"/>
                    <a:lumOff val="35000"/>
                  </a:schemeClr>
                </a:solidFill>
              </a:rPr>
              <a:t>Users have predictable activity patterns that generic notifications don't account for</a:t>
            </a:r>
          </a:p>
        </p:txBody>
      </p:sp>
    </p:spTree>
    <p:extLst>
      <p:ext uri="{BB962C8B-B14F-4D97-AF65-F5344CB8AC3E}">
        <p14:creationId xmlns:p14="http://schemas.microsoft.com/office/powerpoint/2010/main" val="25374698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DD7C0-F14B-34DA-FB9F-72F1CE7C8333}"/>
              </a:ext>
            </a:extLst>
          </p:cNvPr>
          <p:cNvSpPr>
            <a:spLocks noGrp="1"/>
          </p:cNvSpPr>
          <p:nvPr>
            <p:ph type="title"/>
          </p:nvPr>
        </p:nvSpPr>
        <p:spPr/>
        <p:txBody>
          <a:bodyPr>
            <a:normAutofit/>
          </a:bodyPr>
          <a:lstStyle/>
          <a:p>
            <a:r>
              <a:rPr lang="en-US" sz="2400" b="1" dirty="0">
                <a:solidFill>
                  <a:srgbClr val="B88AA6"/>
                </a:solidFill>
              </a:rPr>
              <a:t>Data Sources &amp; Limitations</a:t>
            </a:r>
          </a:p>
        </p:txBody>
      </p:sp>
      <p:sp>
        <p:nvSpPr>
          <p:cNvPr id="3" name="Content Placeholder 2">
            <a:extLst>
              <a:ext uri="{FF2B5EF4-FFF2-40B4-BE49-F238E27FC236}">
                <a16:creationId xmlns:a16="http://schemas.microsoft.com/office/drawing/2014/main" id="{A79393FB-5616-FFAE-590B-9EC29C6E24F7}"/>
              </a:ext>
            </a:extLst>
          </p:cNvPr>
          <p:cNvSpPr>
            <a:spLocks noGrp="1"/>
          </p:cNvSpPr>
          <p:nvPr>
            <p:ph idx="1"/>
          </p:nvPr>
        </p:nvSpPr>
        <p:spPr>
          <a:xfrm>
            <a:off x="6357256" y="2997608"/>
            <a:ext cx="4996543" cy="3413125"/>
          </a:xfrm>
        </p:spPr>
        <p:txBody>
          <a:bodyPr>
            <a:noAutofit/>
          </a:bodyPr>
          <a:lstStyle/>
          <a:p>
            <a:pPr marL="0" indent="0">
              <a:buNone/>
            </a:pPr>
            <a:r>
              <a:rPr lang="en-US" sz="1800" b="1" dirty="0">
                <a:solidFill>
                  <a:schemeClr val="tx1">
                    <a:lumMod val="65000"/>
                    <a:lumOff val="35000"/>
                  </a:schemeClr>
                </a:solidFill>
              </a:rPr>
              <a:t>Limitations:</a:t>
            </a:r>
            <a:endParaRPr lang="en-US" sz="1800" dirty="0">
              <a:solidFill>
                <a:schemeClr val="tx1">
                  <a:lumMod val="65000"/>
                  <a:lumOff val="35000"/>
                </a:schemeClr>
              </a:solidFill>
            </a:endParaRPr>
          </a:p>
          <a:p>
            <a:pPr marL="0" indent="0">
              <a:buNone/>
            </a:pPr>
            <a:r>
              <a:rPr lang="en-US" sz="1800" dirty="0">
                <a:solidFill>
                  <a:schemeClr val="tx1">
                    <a:lumMod val="65000"/>
                    <a:lumOff val="35000"/>
                  </a:schemeClr>
                </a:solidFill>
              </a:rPr>
              <a:t>The sample size of 35 users is too small to be statistically representative of all fitness tracker users. The data is from 2016 (nearly 10 years old) meaning habits may have changed significantly since collection. No demographic information is available, so we cannot confirm these users represent Bellabeat's target audience. Additionally, the data shows WHAT users do but cannot explain WHY they behave that way.</a:t>
            </a:r>
          </a:p>
          <a:p>
            <a:pPr marL="0" indent="0">
              <a:buNone/>
            </a:pPr>
            <a:endParaRPr lang="en-US" sz="1800" dirty="0">
              <a:solidFill>
                <a:schemeClr val="tx1">
                  <a:lumMod val="65000"/>
                  <a:lumOff val="35000"/>
                </a:schemeClr>
              </a:solidFill>
            </a:endParaRPr>
          </a:p>
          <a:p>
            <a:endParaRPr lang="en-US" sz="2000" dirty="0"/>
          </a:p>
          <a:p>
            <a:pPr marL="0" indent="0">
              <a:buNone/>
            </a:pPr>
            <a:endParaRPr lang="en-US" sz="2000" dirty="0"/>
          </a:p>
        </p:txBody>
      </p:sp>
      <p:sp>
        <p:nvSpPr>
          <p:cNvPr id="5" name="TextBox 4">
            <a:extLst>
              <a:ext uri="{FF2B5EF4-FFF2-40B4-BE49-F238E27FC236}">
                <a16:creationId xmlns:a16="http://schemas.microsoft.com/office/drawing/2014/main" id="{82035DC2-5673-EC70-A2DB-22F19F773532}"/>
              </a:ext>
            </a:extLst>
          </p:cNvPr>
          <p:cNvSpPr txBox="1"/>
          <p:nvPr/>
        </p:nvSpPr>
        <p:spPr>
          <a:xfrm>
            <a:off x="838200" y="1690688"/>
            <a:ext cx="9779726" cy="923330"/>
          </a:xfrm>
          <a:prstGeom prst="rect">
            <a:avLst/>
          </a:prstGeom>
          <a:noFill/>
        </p:spPr>
        <p:txBody>
          <a:bodyPr wrap="square" rtlCol="0">
            <a:spAutoFit/>
          </a:bodyPr>
          <a:lstStyle/>
          <a:p>
            <a:r>
              <a:rPr lang="en-US" b="1" i="1" dirty="0">
                <a:solidFill>
                  <a:schemeClr val="tx1">
                    <a:lumMod val="65000"/>
                    <a:lumOff val="35000"/>
                  </a:schemeClr>
                </a:solidFill>
              </a:rPr>
              <a:t>These findings should be treated as directional insights. Further research with a larger, more recent, and demographically defined dataset is recommended before making major strategic decisions.</a:t>
            </a:r>
            <a:endParaRPr lang="en-US" b="1" dirty="0">
              <a:solidFill>
                <a:schemeClr val="tx1">
                  <a:lumMod val="65000"/>
                  <a:lumOff val="35000"/>
                </a:schemeClr>
              </a:solidFill>
            </a:endParaRPr>
          </a:p>
        </p:txBody>
      </p:sp>
      <p:sp>
        <p:nvSpPr>
          <p:cNvPr id="6" name="TextBox 5">
            <a:extLst>
              <a:ext uri="{FF2B5EF4-FFF2-40B4-BE49-F238E27FC236}">
                <a16:creationId xmlns:a16="http://schemas.microsoft.com/office/drawing/2014/main" id="{A08BF64F-9A98-973C-FB9D-B14E7A5C2E7E}"/>
              </a:ext>
            </a:extLst>
          </p:cNvPr>
          <p:cNvSpPr txBox="1"/>
          <p:nvPr/>
        </p:nvSpPr>
        <p:spPr>
          <a:xfrm>
            <a:off x="838199" y="2997608"/>
            <a:ext cx="4108270" cy="2308324"/>
          </a:xfrm>
          <a:prstGeom prst="rect">
            <a:avLst/>
          </a:prstGeom>
          <a:noFill/>
        </p:spPr>
        <p:txBody>
          <a:bodyPr wrap="square" rtlCol="0">
            <a:spAutoFit/>
          </a:bodyPr>
          <a:lstStyle/>
          <a:p>
            <a:r>
              <a:rPr lang="en-US" b="1" dirty="0">
                <a:solidFill>
                  <a:schemeClr val="tx1">
                    <a:lumMod val="65000"/>
                    <a:lumOff val="35000"/>
                  </a:schemeClr>
                </a:solidFill>
              </a:rPr>
              <a:t>Data Source:</a:t>
            </a:r>
            <a:endParaRPr lang="en-US" dirty="0">
              <a:solidFill>
                <a:schemeClr val="tx1">
                  <a:lumMod val="65000"/>
                  <a:lumOff val="35000"/>
                </a:schemeClr>
              </a:solidFill>
            </a:endParaRPr>
          </a:p>
          <a:p>
            <a:r>
              <a:rPr lang="en-US" dirty="0" err="1">
                <a:solidFill>
                  <a:schemeClr val="tx1">
                    <a:lumMod val="65000"/>
                    <a:lumOff val="35000"/>
                  </a:schemeClr>
                </a:solidFill>
              </a:rPr>
              <a:t>FitBit</a:t>
            </a:r>
            <a:r>
              <a:rPr lang="en-US" dirty="0">
                <a:solidFill>
                  <a:schemeClr val="tx1">
                    <a:lumMod val="65000"/>
                    <a:lumOff val="35000"/>
                  </a:schemeClr>
                </a:solidFill>
              </a:rPr>
              <a:t> Fitness Tracker Data</a:t>
            </a:r>
            <a:br>
              <a:rPr lang="en-US" dirty="0">
                <a:solidFill>
                  <a:schemeClr val="tx1">
                    <a:lumMod val="65000"/>
                    <a:lumOff val="35000"/>
                  </a:schemeClr>
                </a:solidFill>
              </a:rPr>
            </a:br>
            <a:r>
              <a:rPr lang="en-US" dirty="0">
                <a:solidFill>
                  <a:schemeClr val="tx1">
                    <a:lumMod val="65000"/>
                    <a:lumOff val="35000"/>
                  </a:schemeClr>
                </a:solidFill>
              </a:rPr>
              <a:t>Source: Kaggle (Mobius), CC0 Public Domain License.</a:t>
            </a:r>
            <a:br>
              <a:rPr lang="en-US" dirty="0">
                <a:solidFill>
                  <a:schemeClr val="tx1">
                    <a:lumMod val="65000"/>
                    <a:lumOff val="35000"/>
                  </a:schemeClr>
                </a:solidFill>
              </a:rPr>
            </a:br>
            <a:r>
              <a:rPr lang="en-US" dirty="0">
                <a:solidFill>
                  <a:schemeClr val="tx1">
                    <a:lumMod val="65000"/>
                    <a:lumOff val="35000"/>
                  </a:schemeClr>
                </a:solidFill>
              </a:rPr>
              <a:t>Collected via Amazon Mechanical Turk.</a:t>
            </a:r>
            <a:br>
              <a:rPr lang="en-US" dirty="0">
                <a:solidFill>
                  <a:schemeClr val="tx1">
                    <a:lumMod val="65000"/>
                    <a:lumOff val="35000"/>
                  </a:schemeClr>
                </a:solidFill>
              </a:rPr>
            </a:br>
            <a:r>
              <a:rPr lang="en-US" dirty="0">
                <a:solidFill>
                  <a:schemeClr val="tx1">
                    <a:lumMod val="65000"/>
                    <a:lumOff val="35000"/>
                  </a:schemeClr>
                </a:solidFill>
              </a:rPr>
              <a:t>Period: March 12, 2016 — May 12, 2016.</a:t>
            </a:r>
            <a:br>
              <a:rPr lang="en-US" dirty="0">
                <a:solidFill>
                  <a:schemeClr val="tx1">
                    <a:lumMod val="65000"/>
                    <a:lumOff val="35000"/>
                  </a:schemeClr>
                </a:solidFill>
              </a:rPr>
            </a:br>
            <a:r>
              <a:rPr lang="en-US" dirty="0">
                <a:solidFill>
                  <a:schemeClr val="tx1">
                    <a:lumMod val="65000"/>
                    <a:lumOff val="35000"/>
                  </a:schemeClr>
                </a:solidFill>
              </a:rPr>
              <a:t>35 unique users across 6 datasets.</a:t>
            </a:r>
          </a:p>
          <a:p>
            <a:endParaRPr lang="en-US" dirty="0"/>
          </a:p>
        </p:txBody>
      </p:sp>
    </p:spTree>
    <p:extLst>
      <p:ext uri="{BB962C8B-B14F-4D97-AF65-F5344CB8AC3E}">
        <p14:creationId xmlns:p14="http://schemas.microsoft.com/office/powerpoint/2010/main" val="39251285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93F86FE-86B5-4B76-F114-EE15FD948EAA}"/>
              </a:ext>
            </a:extLst>
          </p:cNvPr>
          <p:cNvSpPr/>
          <p:nvPr/>
        </p:nvSpPr>
        <p:spPr>
          <a:xfrm>
            <a:off x="0" y="0"/>
            <a:ext cx="12192000" cy="6858000"/>
          </a:xfrm>
          <a:prstGeom prst="rect">
            <a:avLst/>
          </a:prstGeom>
          <a:solidFill>
            <a:srgbClr val="B88AA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70C439-E6C0-F346-A033-E4F4E223AC92}"/>
              </a:ext>
            </a:extLst>
          </p:cNvPr>
          <p:cNvSpPr>
            <a:spLocks noGrp="1"/>
          </p:cNvSpPr>
          <p:nvPr>
            <p:ph type="title"/>
          </p:nvPr>
        </p:nvSpPr>
        <p:spPr>
          <a:xfrm>
            <a:off x="1345480" y="2766218"/>
            <a:ext cx="1948543" cy="1325563"/>
          </a:xfrm>
        </p:spPr>
        <p:txBody>
          <a:bodyPr>
            <a:normAutofit/>
          </a:bodyPr>
          <a:lstStyle/>
          <a:p>
            <a:r>
              <a:rPr lang="en-US" sz="2800" b="1" dirty="0">
                <a:solidFill>
                  <a:schemeClr val="bg1"/>
                </a:solidFill>
              </a:rPr>
              <a:t>Thank You.</a:t>
            </a:r>
          </a:p>
        </p:txBody>
      </p:sp>
    </p:spTree>
    <p:extLst>
      <p:ext uri="{BB962C8B-B14F-4D97-AF65-F5344CB8AC3E}">
        <p14:creationId xmlns:p14="http://schemas.microsoft.com/office/powerpoint/2010/main" val="556713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346C16-D1B8-CFD9-A136-BE146428A0F6}"/>
              </a:ext>
            </a:extLst>
          </p:cNvPr>
          <p:cNvSpPr>
            <a:spLocks noGrp="1"/>
          </p:cNvSpPr>
          <p:nvPr>
            <p:ph idx="1"/>
          </p:nvPr>
        </p:nvSpPr>
        <p:spPr>
          <a:xfrm>
            <a:off x="838200" y="2243047"/>
            <a:ext cx="10515600" cy="2371906"/>
          </a:xfrm>
        </p:spPr>
        <p:txBody>
          <a:bodyPr>
            <a:normAutofit/>
          </a:bodyPr>
          <a:lstStyle/>
          <a:p>
            <a:pPr marL="0" indent="0">
              <a:lnSpc>
                <a:spcPct val="150000"/>
              </a:lnSpc>
              <a:buNone/>
            </a:pPr>
            <a:r>
              <a:rPr lang="en-US" sz="2400" b="1" dirty="0">
                <a:solidFill>
                  <a:srgbClr val="B88AA6"/>
                </a:solidFill>
              </a:rPr>
              <a:t>Ezana Girmay Gebremichael</a:t>
            </a:r>
            <a:br>
              <a:rPr lang="en-US" sz="2400" b="1" dirty="0">
                <a:solidFill>
                  <a:schemeClr val="tx1">
                    <a:lumMod val="65000"/>
                    <a:lumOff val="35000"/>
                  </a:schemeClr>
                </a:solidFill>
              </a:rPr>
            </a:br>
            <a:r>
              <a:rPr lang="en-US" sz="2400" b="1" dirty="0">
                <a:solidFill>
                  <a:srgbClr val="B88AA6"/>
                </a:solidFill>
              </a:rPr>
              <a:t>Email:</a:t>
            </a:r>
            <a:r>
              <a:rPr lang="en-US" sz="2400" b="1" dirty="0">
                <a:solidFill>
                  <a:schemeClr val="tx1">
                    <a:lumMod val="65000"/>
                    <a:lumOff val="35000"/>
                  </a:schemeClr>
                </a:solidFill>
              </a:rPr>
              <a:t> </a:t>
            </a:r>
            <a:r>
              <a:rPr lang="en-US" sz="2200" dirty="0">
                <a:solidFill>
                  <a:schemeClr val="tx1">
                    <a:lumMod val="50000"/>
                    <a:lumOff val="50000"/>
                  </a:schemeClr>
                </a:solidFill>
              </a:rPr>
              <a:t>ezanagebremichael@gmail.com</a:t>
            </a:r>
            <a:br>
              <a:rPr lang="en-US" sz="2400" b="1" dirty="0">
                <a:solidFill>
                  <a:schemeClr val="tx1">
                    <a:lumMod val="65000"/>
                    <a:lumOff val="35000"/>
                  </a:schemeClr>
                </a:solidFill>
              </a:rPr>
            </a:br>
            <a:r>
              <a:rPr lang="en-US" sz="2400" b="1" dirty="0">
                <a:solidFill>
                  <a:srgbClr val="B88AA6"/>
                </a:solidFill>
              </a:rPr>
              <a:t>LinkedIn:</a:t>
            </a:r>
            <a:r>
              <a:rPr lang="en-US" sz="2400" b="1" dirty="0">
                <a:solidFill>
                  <a:schemeClr val="tx1">
                    <a:lumMod val="65000"/>
                    <a:lumOff val="35000"/>
                  </a:schemeClr>
                </a:solidFill>
              </a:rPr>
              <a:t> </a:t>
            </a:r>
            <a:r>
              <a:rPr lang="en-US" sz="2200" dirty="0">
                <a:solidFill>
                  <a:schemeClr val="tx1">
                    <a:lumMod val="50000"/>
                    <a:lumOff val="50000"/>
                  </a:schemeClr>
                </a:solidFill>
                <a:hlinkClick r:id="rId2">
                  <a:extLst>
                    <a:ext uri="{A12FA001-AC4F-418D-AE19-62706E023703}">
                      <ahyp:hlinkClr xmlns:ahyp="http://schemas.microsoft.com/office/drawing/2018/hyperlinkcolor" val="tx"/>
                    </a:ext>
                  </a:extLst>
                </a:hlinkClick>
              </a:rPr>
              <a:t>https://www.linkedin.com/in/ezanagebremichael/</a:t>
            </a:r>
            <a:br>
              <a:rPr lang="en-US" sz="2400" b="1" dirty="0">
                <a:solidFill>
                  <a:schemeClr val="tx1">
                    <a:lumMod val="65000"/>
                    <a:lumOff val="35000"/>
                  </a:schemeClr>
                </a:solidFill>
              </a:rPr>
            </a:br>
            <a:r>
              <a:rPr lang="en-US" sz="2400" b="1" dirty="0">
                <a:solidFill>
                  <a:srgbClr val="B88AA6"/>
                </a:solidFill>
              </a:rPr>
              <a:t>Tableau Public: </a:t>
            </a:r>
            <a:r>
              <a:rPr lang="en-US" sz="2200" dirty="0">
                <a:solidFill>
                  <a:schemeClr val="tx1">
                    <a:lumMod val="50000"/>
                    <a:lumOff val="50000"/>
                  </a:schemeClr>
                </a:solidFill>
                <a:hlinkClick r:id="rId3">
                  <a:extLst>
                    <a:ext uri="{A12FA001-AC4F-418D-AE19-62706E023703}">
                      <ahyp:hlinkClr xmlns:ahyp="http://schemas.microsoft.com/office/drawing/2018/hyperlinkcolor" val="tx"/>
                    </a:ext>
                  </a:extLst>
                </a:hlinkClick>
              </a:rPr>
              <a:t>https://public.tableau.com/app/profile/ezanagebremichael</a:t>
            </a:r>
            <a:endParaRPr lang="en-US" sz="2200" b="1" dirty="0">
              <a:solidFill>
                <a:schemeClr val="tx1">
                  <a:lumMod val="50000"/>
                  <a:lumOff val="50000"/>
                </a:schemeClr>
              </a:solidFill>
            </a:endParaRPr>
          </a:p>
        </p:txBody>
      </p:sp>
    </p:spTree>
    <p:extLst>
      <p:ext uri="{BB962C8B-B14F-4D97-AF65-F5344CB8AC3E}">
        <p14:creationId xmlns:p14="http://schemas.microsoft.com/office/powerpoint/2010/main" val="22622548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389</TotalTime>
  <Words>889</Words>
  <Application>Microsoft Office PowerPoint</Application>
  <PresentationFormat>Widescreen</PresentationFormat>
  <Paragraphs>76</Paragraphs>
  <Slides>17</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Aptos</vt:lpstr>
      <vt:lpstr>Aptos Display</vt:lpstr>
      <vt:lpstr>Arial</vt:lpstr>
      <vt:lpstr>Office Theme</vt:lpstr>
      <vt:lpstr>Bellabeat Smart Device Usage Analysis</vt:lpstr>
      <vt:lpstr>PowerPoint Presentation</vt:lpstr>
      <vt:lpstr>PowerPoint Presentation</vt:lpstr>
      <vt:lpstr>PowerPoint Presentation</vt:lpstr>
      <vt:lpstr>Most Users Are Sedentary (34.3%)  Larger than very active users combined with lightly active users</vt:lpstr>
      <vt:lpstr>Half Of Users Don't Wear Their Device Every Day  Only 49% of users wore their device consistently every day. Some users missed up to 75% of days. 2 users had zero step days more than 40% of the time. </vt:lpstr>
      <vt:lpstr>Users Are Most Active In The Evening  Peak activity at 7PM with average 554 steps per hour</vt:lpstr>
      <vt:lpstr>Saturday Is Most Active, Sunday Is Most Sedentary  Saturday averages 7,831 steps  Sunday averages 6,641 steps  Difference of nearly 1,200 steps between best and worst day</vt:lpstr>
      <vt:lpstr>Sitting More Is Linked To Sleeping Less  Sedentary minutes vs sleep correlation: -0.59 It's not about how much you exercise, it's about how much you sit. Reducing sedentary time shows a stronger link to better sleep than increasing step count alone</vt:lpstr>
      <vt:lpstr>Users Struggle With Sleep Quality  Average sleep: 6.99 hours, barely meeting 7 hour minimum Users are not only sleeping too little but spending significant time lying awake</vt:lpstr>
      <vt:lpstr>PowerPoint Presentation</vt:lpstr>
      <vt:lpstr>Improve Device Design Appeal To Drive Consistent Wear</vt:lpstr>
      <vt:lpstr>Help Users Sit Less To Sleep Better</vt:lpstr>
      <vt:lpstr>Deliver The Right Message At The Right Time</vt:lpstr>
      <vt:lpstr>Data Sources &amp; Limitations</vt:lpstr>
      <vt:lpstr>Thank You.</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Ezana Gebremichael</dc:creator>
  <cp:lastModifiedBy>Ezana Gebremichael</cp:lastModifiedBy>
  <cp:revision>5</cp:revision>
  <dcterms:created xsi:type="dcterms:W3CDTF">2026-06-30T21:23:54Z</dcterms:created>
  <dcterms:modified xsi:type="dcterms:W3CDTF">2026-07-01T21:50:33Z</dcterms:modified>
</cp:coreProperties>
</file>